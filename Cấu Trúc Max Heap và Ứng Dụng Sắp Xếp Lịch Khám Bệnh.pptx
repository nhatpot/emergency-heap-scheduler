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87" r:id="rId6"/>
    <p:sldId id="260" r:id="rId7"/>
    <p:sldId id="285" r:id="rId8"/>
    <p:sldId id="288" r:id="rId9"/>
    <p:sldId id="279" r:id="rId10"/>
    <p:sldId id="261" r:id="rId11"/>
    <p:sldId id="277" r:id="rId12"/>
    <p:sldId id="284" r:id="rId13"/>
    <p:sldId id="281" r:id="rId14"/>
    <p:sldId id="282" r:id="rId15"/>
    <p:sldId id="283"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jBxxPadxrnWgd4bC4ImwqbkGG8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5033" autoAdjust="0"/>
  </p:normalViewPr>
  <p:slideViewPr>
    <p:cSldViewPr snapToGrid="0">
      <p:cViewPr varScale="1">
        <p:scale>
          <a:sx n="43" d="100"/>
          <a:sy n="43" d="100"/>
        </p:scale>
        <p:origin x="1210"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vi-V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BA6B0C45-4A2D-EBDC-BDB0-E8EA2AA6CAFD}"/>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8A3309A3-2ECF-3C0B-8B2F-E43FF4CA58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5042805A-9E26-BDDD-EAF3-267E463D5C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288798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434262FD-6F7A-3289-987F-2194087D01F0}"/>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03A0B732-43DD-D083-C34F-B3315E168A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F401DDC0-93B0-F498-1F9F-DB26AFBDD9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1232705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C87710F7-A157-7168-B5EB-1F96E226CF36}"/>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51EABB17-FB4F-25BF-E282-BA670B32DA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b="1" i="0" dirty="0">
                <a:solidFill>
                  <a:srgbClr val="1D293F"/>
                </a:solidFill>
                <a:effectLst/>
                <a:latin typeface="Inter"/>
              </a:rPr>
              <a:t>Thuật toán </a:t>
            </a:r>
            <a:r>
              <a:rPr lang="vi-VN" b="1" i="0" dirty="0" err="1">
                <a:solidFill>
                  <a:srgbClr val="1D293F"/>
                </a:solidFill>
                <a:effectLst/>
                <a:latin typeface="Inter"/>
              </a:rPr>
              <a:t>Heap</a:t>
            </a:r>
            <a:r>
              <a:rPr lang="vi-VN" b="1" i="0" dirty="0">
                <a:solidFill>
                  <a:srgbClr val="1D293F"/>
                </a:solidFill>
                <a:effectLst/>
                <a:latin typeface="Inter"/>
              </a:rPr>
              <a:t> </a:t>
            </a:r>
            <a:r>
              <a:rPr lang="vi-VN" b="1" i="0" dirty="0" err="1">
                <a:solidFill>
                  <a:srgbClr val="1D293F"/>
                </a:solidFill>
                <a:effectLst/>
                <a:latin typeface="Inter"/>
              </a:rPr>
              <a:t>sort</a:t>
            </a:r>
            <a:r>
              <a:rPr lang="vi-VN" b="1" i="0" dirty="0">
                <a:solidFill>
                  <a:srgbClr val="1D293F"/>
                </a:solidFill>
                <a:effectLst/>
                <a:latin typeface="Inter"/>
              </a:rPr>
              <a:t> </a:t>
            </a:r>
            <a:r>
              <a:rPr lang="vi-VN" b="0" i="0" dirty="0">
                <a:solidFill>
                  <a:srgbClr val="1D293F"/>
                </a:solidFill>
                <a:effectLst/>
                <a:latin typeface="Inter"/>
              </a:rPr>
              <a:t>là một kỹ thuật sắp xếp phân loại dựa trên cấu trúc dữ liệu </a:t>
            </a:r>
            <a:r>
              <a:rPr lang="vi-VN" b="0" i="0" dirty="0" err="1">
                <a:solidFill>
                  <a:srgbClr val="1D293F"/>
                </a:solidFill>
                <a:effectLst/>
                <a:latin typeface="Inter"/>
              </a:rPr>
              <a:t>Binary</a:t>
            </a:r>
            <a:r>
              <a:rPr lang="vi-VN" b="0" i="0" dirty="0">
                <a:solidFill>
                  <a:srgbClr val="1D293F"/>
                </a:solidFill>
                <a:effectLst/>
                <a:latin typeface="Inter"/>
              </a:rPr>
              <a:t> </a:t>
            </a:r>
            <a:r>
              <a:rPr lang="vi-VN" b="0" i="0" dirty="0" err="1">
                <a:solidFill>
                  <a:srgbClr val="1D293F"/>
                </a:solidFill>
                <a:effectLst/>
                <a:latin typeface="Inter"/>
              </a:rPr>
              <a:t>Heap</a:t>
            </a:r>
            <a:r>
              <a:rPr lang="vi-VN" b="0" i="0" dirty="0">
                <a:solidFill>
                  <a:srgbClr val="1D293F"/>
                </a:solidFill>
                <a:effectLst/>
                <a:latin typeface="Inter"/>
              </a:rPr>
              <a:t>. </a:t>
            </a:r>
            <a:r>
              <a:rPr lang="vi-VN" b="0" i="0" dirty="0" err="1">
                <a:solidFill>
                  <a:srgbClr val="1D293F"/>
                </a:solidFill>
                <a:effectLst/>
                <a:latin typeface="Inter"/>
              </a:rPr>
              <a:t>Heap</a:t>
            </a:r>
            <a:r>
              <a:rPr lang="vi-VN" b="0" i="0" dirty="0">
                <a:solidFill>
                  <a:srgbClr val="1D293F"/>
                </a:solidFill>
                <a:effectLst/>
                <a:latin typeface="Inter"/>
              </a:rPr>
              <a:t> </a:t>
            </a:r>
            <a:r>
              <a:rPr lang="vi-VN" b="0" i="0" dirty="0" err="1">
                <a:solidFill>
                  <a:srgbClr val="1D293F"/>
                </a:solidFill>
                <a:effectLst/>
                <a:latin typeface="Inter"/>
              </a:rPr>
              <a:t>sort</a:t>
            </a:r>
            <a:r>
              <a:rPr lang="vi-VN" b="0" i="0" dirty="0">
                <a:solidFill>
                  <a:srgbClr val="1D293F"/>
                </a:solidFill>
                <a:effectLst/>
                <a:latin typeface="Inter"/>
              </a:rPr>
              <a:t> giúp sắp xếp các phần tử trong danh sách sao cho phần tử lớn nhất được xếp vào cuối danh sách, và quá trình này sẽ lặp lại cho các phần tử còn lại trong danh sách.</a:t>
            </a:r>
            <a:endParaRPr lang="vi-VN" dirty="0"/>
          </a:p>
          <a:p>
            <a:pPr marL="0" lvl="0" indent="0" algn="l" rtl="0">
              <a:spcBef>
                <a:spcPts val="0"/>
              </a:spcBef>
              <a:spcAft>
                <a:spcPts val="0"/>
              </a:spcAft>
              <a:buNone/>
            </a:pPr>
            <a:endParaRPr dirty="0"/>
          </a:p>
        </p:txBody>
      </p:sp>
      <p:sp>
        <p:nvSpPr>
          <p:cNvPr id="89" name="Google Shape;89;p2:notes">
            <a:extLst>
              <a:ext uri="{FF2B5EF4-FFF2-40B4-BE49-F238E27FC236}">
                <a16:creationId xmlns:a16="http://schemas.microsoft.com/office/drawing/2014/main" id="{A867ED78-1BBD-CD16-973C-865B64CF47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2495869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AFF78669-C262-43A9-1FF3-70F069E164BA}"/>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2E2B6776-3BFE-7E51-9BCB-13FEC30F0C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8101EA48-0D60-86E3-2BFF-19DA76E529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4291748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75038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D5095EA7-2FEF-B6BC-E9EA-83F0FD2FA1D3}"/>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11E7097F-466C-3E5B-F3E3-49E5B761CB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35CD1716-AC61-0689-844D-11BC5B1DF0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4004759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B6686396-2851-E750-0DFF-18F97E887010}"/>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098EF471-6625-A449-8DCD-C8DAAC2269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B53AD6F0-4DE9-F626-11C7-C932E5137F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323590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A9A49015-761D-3CF3-5B8A-FBFA953ABD73}"/>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96CC5C54-7238-4A2F-D1EE-6ED791C191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ABC24B74-DA8C-4E82-26F7-9C27F6BC25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1628584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3828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408F34E4-558F-15D3-5CDE-C65A41310994}"/>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FADCCFCF-82F8-F469-3B29-96C4C32E0D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9AC52BB4-8CB4-1948-8748-A39AFFB00A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4049389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8C4649FF-ADE5-7D49-C853-071496BA2754}"/>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FE1DA45D-336A-FA12-4C6E-3D5CB2DBAA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EFF93FD1-3108-E12B-1EFB-06BA333D70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14767059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9999F956-4E4E-3A7B-918E-FB7C0E6EDBE2}"/>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7A8DCBC2-EF2B-8E36-66A0-05599CD136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E81B1B01-0DF7-A5E8-6058-8E7FCF9766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2656035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A00E9A8D-0743-F413-F195-20EE4C0D64C5}"/>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DA0EA674-6054-7228-70A6-0AE215ED3D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7E3759C9-B08C-0728-75DE-D8C1E87E72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vi-VN"/>
          </a:p>
        </p:txBody>
      </p:sp>
    </p:spTree>
    <p:extLst>
      <p:ext uri="{BB962C8B-B14F-4D97-AF65-F5344CB8AC3E}">
        <p14:creationId xmlns:p14="http://schemas.microsoft.com/office/powerpoint/2010/main" val="986642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3"/>
          <p:cNvSpPr>
            <a:spLocks noGrp="1"/>
          </p:cNvSpPr>
          <p:nvPr>
            <p:ph type="pic" idx="2"/>
          </p:nvPr>
        </p:nvSpPr>
        <p:spPr>
          <a:xfrm>
            <a:off x="5183188" y="987425"/>
            <a:ext cx="6172200" cy="4873625"/>
          </a:xfrm>
          <a:prstGeom prst="rect">
            <a:avLst/>
          </a:prstGeom>
          <a:noFill/>
          <a:ln>
            <a:noFill/>
          </a:ln>
        </p:spPr>
        <p:txBody>
          <a:bodyPr/>
          <a:lstStyle/>
          <a:p>
            <a:endParaRPr lang="vi-VN"/>
          </a:p>
        </p:txBody>
      </p:sp>
      <p:sp>
        <p:nvSpPr>
          <p:cNvPr id="64" name="Google Shape;6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6" name="Google Shape;86;p1"/>
          <p:cNvPicPr preferRelativeResize="0"/>
          <p:nvPr/>
        </p:nvPicPr>
        <p:blipFill rotWithShape="1">
          <a:blip r:embed="rId4">
            <a:alphaModFix/>
          </a:blip>
          <a:srcRect/>
          <a:stretch/>
        </p:blipFill>
        <p:spPr>
          <a:xfrm>
            <a:off x="301193" y="183610"/>
            <a:ext cx="4501625" cy="886297"/>
          </a:xfrm>
          <a:prstGeom prst="rect">
            <a:avLst/>
          </a:prstGeom>
          <a:noFill/>
          <a:ln>
            <a:noFill/>
          </a:ln>
        </p:spPr>
      </p:pic>
      <p:sp>
        <p:nvSpPr>
          <p:cNvPr id="2" name="Title 1"/>
          <p:cNvSpPr>
            <a:spLocks noGrp="1"/>
          </p:cNvSpPr>
          <p:nvPr>
            <p:ph type="ctrTitle"/>
          </p:nvPr>
        </p:nvSpPr>
        <p:spPr>
          <a:xfrm>
            <a:off x="1524000" y="2001302"/>
            <a:ext cx="9144000" cy="1038074"/>
          </a:xfrm>
        </p:spPr>
        <p:txBody>
          <a:bodyPr/>
          <a:lstStyle/>
          <a:p>
            <a:r>
              <a:rPr lang="en-US" b="1" dirty="0">
                <a:solidFill>
                  <a:schemeClr val="bg1">
                    <a:lumMod val="95000"/>
                  </a:schemeClr>
                </a:solidFill>
                <a:latin typeface="Times New Roman" panose="02020603050405020304" pitchFamily="18" charset="0"/>
                <a:cs typeface="Times New Roman" panose="02020603050405020304" pitchFamily="18" charset="0"/>
              </a:rPr>
              <a:t>Max Heap</a:t>
            </a:r>
          </a:p>
        </p:txBody>
      </p:sp>
      <p:sp>
        <p:nvSpPr>
          <p:cNvPr id="4" name="TextBox 3">
            <a:extLst>
              <a:ext uri="{FF2B5EF4-FFF2-40B4-BE49-F238E27FC236}">
                <a16:creationId xmlns:a16="http://schemas.microsoft.com/office/drawing/2014/main" id="{13F4F778-3EE7-5A57-1770-C6E9A9595196}"/>
              </a:ext>
            </a:extLst>
          </p:cNvPr>
          <p:cNvSpPr txBox="1"/>
          <p:nvPr/>
        </p:nvSpPr>
        <p:spPr>
          <a:xfrm>
            <a:off x="5358581" y="3818624"/>
            <a:ext cx="6096000" cy="2462213"/>
          </a:xfrm>
          <a:prstGeom prst="rect">
            <a:avLst/>
          </a:prstGeom>
          <a:noFill/>
        </p:spPr>
        <p:txBody>
          <a:bodyPr wrap="square">
            <a:spAutoFit/>
          </a:bodyPr>
          <a:lstStyle/>
          <a:p>
            <a:pPr algn="just" fontAlgn="auto">
              <a:spcAft>
                <a:spcPts val="0"/>
              </a:spcAft>
              <a:buClrTx/>
              <a:buSzTx/>
              <a:buFontTx/>
            </a:pPr>
            <a:r>
              <a:rPr lang="en-US" sz="2800" b="1" dirty="0">
                <a:solidFill>
                  <a:schemeClr val="bg1">
                    <a:lumMod val="95000"/>
                  </a:schemeClr>
                </a:solidFill>
                <a:latin typeface="Times New Roman" panose="02020603050405020304" pitchFamily="18" charset="0"/>
                <a:cs typeface="Times New Roman" panose="02020603050405020304" pitchFamily="18" charset="0"/>
              </a:rPr>
              <a:t>GVBM: TS. Phan Thị Huyền Trang</a:t>
            </a:r>
          </a:p>
          <a:p>
            <a:pPr algn="just" fontAlgn="auto">
              <a:lnSpc>
                <a:spcPct val="150000"/>
              </a:lnSpc>
              <a:spcAft>
                <a:spcPts val="0"/>
              </a:spcAft>
              <a:buClrTx/>
              <a:buSzTx/>
              <a:buFontTx/>
            </a:pPr>
            <a:r>
              <a:rPr lang="en-US" sz="2800" b="1" dirty="0">
                <a:solidFill>
                  <a:schemeClr val="bg1">
                    <a:lumMod val="95000"/>
                  </a:schemeClr>
                </a:solidFill>
                <a:latin typeface="Times New Roman" panose="02020603050405020304" pitchFamily="18" charset="0"/>
                <a:cs typeface="Times New Roman" panose="02020603050405020304" pitchFamily="18" charset="0"/>
              </a:rPr>
              <a:t>SVTH:	</a:t>
            </a:r>
          </a:p>
          <a:p>
            <a:pPr algn="just" fontAlgn="auto">
              <a:spcAft>
                <a:spcPts val="0"/>
              </a:spcAft>
              <a:buClrTx/>
              <a:buSzTx/>
              <a:buFontTx/>
            </a:pPr>
            <a:r>
              <a:rPr lang="en-US" sz="2800" b="1" dirty="0">
                <a:solidFill>
                  <a:schemeClr val="bg1">
                    <a:lumMod val="95000"/>
                  </a:schemeClr>
                </a:solidFill>
                <a:latin typeface="Times New Roman" panose="02020603050405020304" pitchFamily="18" charset="0"/>
                <a:cs typeface="Times New Roman" panose="02020603050405020304" pitchFamily="18" charset="0"/>
              </a:rPr>
              <a:t>	Lê Minh Nhật		2591318</a:t>
            </a:r>
          </a:p>
          <a:p>
            <a:pPr algn="just" fontAlgn="auto">
              <a:spcAft>
                <a:spcPts val="0"/>
              </a:spcAft>
              <a:buClrTx/>
              <a:buSzTx/>
              <a:buFontTx/>
            </a:pPr>
            <a:r>
              <a:rPr lang="en-US" sz="2800" b="1" dirty="0">
                <a:solidFill>
                  <a:schemeClr val="bg1">
                    <a:lumMod val="95000"/>
                  </a:schemeClr>
                </a:solidFill>
                <a:latin typeface="Times New Roman" panose="02020603050405020304" pitchFamily="18" charset="0"/>
                <a:cs typeface="Times New Roman" panose="02020603050405020304" pitchFamily="18" charset="0"/>
              </a:rPr>
              <a:t>	Nguyễn Tuấn Nguyễn	2591316</a:t>
            </a:r>
          </a:p>
          <a:p>
            <a:pPr algn="just" fontAlgn="auto">
              <a:spcAft>
                <a:spcPts val="0"/>
              </a:spcAft>
              <a:buClrTx/>
              <a:buSzTx/>
              <a:buFontTx/>
            </a:pPr>
            <a:r>
              <a:rPr lang="en-US" sz="2800" b="1" dirty="0">
                <a:solidFill>
                  <a:schemeClr val="bg1">
                    <a:lumMod val="95000"/>
                  </a:schemeClr>
                </a:solidFill>
                <a:latin typeface="Times New Roman" panose="02020603050405020304" pitchFamily="18" charset="0"/>
                <a:cs typeface="Times New Roman" panose="02020603050405020304" pitchFamily="18" charset="0"/>
              </a:rPr>
              <a:t>	Nguyễn Đức Tín		2591323</a:t>
            </a:r>
            <a:endParaRPr lang="vi-VN" sz="2800" b="1" dirty="0">
              <a:solidFill>
                <a:schemeClr val="bg1">
                  <a:lumMod val="95000"/>
                </a:schemeClr>
              </a:solidFill>
              <a:latin typeface="Times New Roman" panose="02020603050405020304" pitchFamily="18" charset="0"/>
              <a:cs typeface="Times New Roman" panose="02020603050405020304" pitchFamily="18" charset="0"/>
            </a:endParaRPr>
          </a:p>
        </p:txBody>
      </p:sp>
      <p:sp>
        <p:nvSpPr>
          <p:cNvPr id="5" name="Date Placeholder 6">
            <a:extLst>
              <a:ext uri="{FF2B5EF4-FFF2-40B4-BE49-F238E27FC236}">
                <a16:creationId xmlns:a16="http://schemas.microsoft.com/office/drawing/2014/main" id="{ADABB4F0-AE2E-906C-E45B-7AC7B24C4D8E}"/>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bg1">
                    <a:lumMod val="95000"/>
                  </a:schemeClr>
                </a:solidFill>
                <a:latin typeface="+mj-lt"/>
              </a:rPr>
              <a:t>16/12/2025</a:t>
            </a:fld>
            <a:endParaRPr lang="en-US" dirty="0">
              <a:solidFill>
                <a:schemeClr val="bg1">
                  <a:lumMod val="95000"/>
                </a:schemeClr>
              </a:solidFill>
              <a:latin typeface="+mj-lt"/>
            </a:endParaRPr>
          </a:p>
        </p:txBody>
      </p:sp>
      <p:sp>
        <p:nvSpPr>
          <p:cNvPr id="6" name="Slide Number Placeholder 8">
            <a:extLst>
              <a:ext uri="{FF2B5EF4-FFF2-40B4-BE49-F238E27FC236}">
                <a16:creationId xmlns:a16="http://schemas.microsoft.com/office/drawing/2014/main" id="{A6AA18E4-3145-9F0F-4A5D-6DF6B9E4130A}"/>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bg1">
                    <a:lumMod val="95000"/>
                  </a:schemeClr>
                </a:solidFill>
                <a:latin typeface="Times New Roman" panose="02020603050405020304" pitchFamily="18" charset="0"/>
                <a:cs typeface="Times New Roman" panose="02020603050405020304" pitchFamily="18" charset="0"/>
              </a:rPr>
              <a:pPr>
                <a:defRPr/>
              </a:pPr>
              <a:t>1</a:t>
            </a:fld>
            <a:endParaRPr lang="en-US" dirty="0">
              <a:solidFill>
                <a:schemeClr val="bg1">
                  <a:lumMod val="9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2" name="Google Shape;92;p2"/>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2" name="Title 1"/>
          <p:cNvSpPr>
            <a:spLocks noGrp="1"/>
          </p:cNvSpPr>
          <p:nvPr>
            <p:ph type="title"/>
          </p:nvPr>
        </p:nvSpPr>
        <p:spPr>
          <a:xfrm>
            <a:off x="362481" y="1428241"/>
            <a:ext cx="10515600" cy="686309"/>
          </a:xfrm>
        </p:spPr>
        <p:txBody>
          <a:bodyPr>
            <a:normAutofit/>
          </a:bodyPr>
          <a:lstStyle/>
          <a:p>
            <a:r>
              <a:rPr lang="en-US" sz="4000" b="1" dirty="0">
                <a:latin typeface="Times New Roman" panose="02020603050405020304" pitchFamily="18" charset="0"/>
                <a:cs typeface="Times New Roman" panose="02020603050405020304" pitchFamily="18" charset="0"/>
              </a:rPr>
              <a:t>MỤC TIÊU</a:t>
            </a:r>
          </a:p>
        </p:txBody>
      </p:sp>
      <p:sp>
        <p:nvSpPr>
          <p:cNvPr id="4" name="Date Placeholder 6">
            <a:extLst>
              <a:ext uri="{FF2B5EF4-FFF2-40B4-BE49-F238E27FC236}">
                <a16:creationId xmlns:a16="http://schemas.microsoft.com/office/drawing/2014/main" id="{8E471F7D-9A6B-40F0-3E45-63CC99673A8C}"/>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7AE479AA-FDC8-6883-A408-EF067B648444}"/>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2</a:t>
            </a:fld>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083332-D884-AE48-C02C-29A844234F9E}"/>
                  </a:ext>
                </a:extLst>
              </p:cNvPr>
              <p:cNvSpPr txBox="1"/>
              <p:nvPr/>
            </p:nvSpPr>
            <p:spPr>
              <a:xfrm>
                <a:off x="0" y="2114550"/>
                <a:ext cx="12192000" cy="3108543"/>
              </a:xfrm>
              <a:prstGeom prst="rect">
                <a:avLst/>
              </a:prstGeom>
              <a:noFill/>
            </p:spPr>
            <p:txBody>
              <a:bodyPr wrap="square">
                <a:spAutoFit/>
              </a:bodyPr>
              <a:lstStyle/>
              <a:p>
                <a:pPr algn="just">
                  <a:buFont typeface="Arial" panose="020B0604020202020204" pitchFamily="34" charset="0"/>
                  <a:buChar char="•"/>
                </a:pPr>
                <a:r>
                  <a:rPr lang="vi-VN" sz="2800" b="1" dirty="0">
                    <a:latin typeface="+mj-lt"/>
                  </a:rPr>
                  <a:t> Hiểu khái niệm:</a:t>
                </a:r>
                <a:r>
                  <a:rPr lang="vi-VN" sz="2800" dirty="0">
                    <a:latin typeface="+mj-lt"/>
                  </a:rPr>
                  <a:t> Nắm vững Max Heap là gì, đặc điểm và ứng dụng thực tế.</a:t>
                </a:r>
              </a:p>
              <a:p>
                <a:pPr algn="just">
                  <a:buFont typeface="Arial" panose="020B0604020202020204" pitchFamily="34" charset="0"/>
                  <a:buChar char="•"/>
                </a:pPr>
                <a:r>
                  <a:rPr lang="vi-VN" sz="2800" b="1" dirty="0">
                    <a:latin typeface="+mj-lt"/>
                  </a:rPr>
                  <a:t> Phân tích độ phức tạp:</a:t>
                </a:r>
                <a:r>
                  <a:rPr lang="vi-VN" sz="2800" dirty="0">
                    <a:latin typeface="+mj-lt"/>
                  </a:rPr>
                  <a:t> Biết các phép toán cơ bản và độ phức tạp thời gian.</a:t>
                </a:r>
              </a:p>
              <a:p>
                <a:pPr algn="just">
                  <a:buNone/>
                </a:pPr>
                <a14:m>
                  <m:oMathPara xmlns:m="http://schemas.openxmlformats.org/officeDocument/2006/math">
                    <m:oMathParaPr>
                      <m:jc m:val="centerGroup"/>
                    </m:oMathParaPr>
                    <m:oMath xmlns:m="http://schemas.openxmlformats.org/officeDocument/2006/math">
                      <m:r>
                        <m:rPr>
                          <m:nor/>
                        </m:rPr>
                        <a:rPr lang="vi-VN" sz="2800" b="0">
                          <a:latin typeface="+mj-lt"/>
                        </a:rPr>
                        <m:t>Insert</m:t>
                      </m:r>
                      <m:r>
                        <m:rPr>
                          <m:nor/>
                        </m:rPr>
                        <a:rPr lang="vi-VN" sz="2800" b="0">
                          <a:latin typeface="+mj-lt"/>
                        </a:rPr>
                        <m:t>,</m:t>
                      </m:r>
                      <m:r>
                        <m:rPr>
                          <m:nor/>
                        </m:rPr>
                        <a:rPr lang="vi-VN" sz="2800" b="0" i="1">
                          <a:latin typeface="+mj-lt"/>
                        </a:rPr>
                        <m:t> </m:t>
                      </m:r>
                      <m:r>
                        <m:rPr>
                          <m:nor/>
                        </m:rPr>
                        <a:rPr lang="vi-VN" sz="2800" b="0" i="1">
                          <a:latin typeface="+mj-lt"/>
                        </a:rPr>
                        <m:t>Extract</m:t>
                      </m:r>
                      <m:r>
                        <m:rPr>
                          <m:nor/>
                        </m:rPr>
                        <a:rPr lang="vi-VN" sz="2800" b="0" i="1">
                          <a:latin typeface="+mj-lt"/>
                        </a:rPr>
                        <m:t>−</m:t>
                      </m:r>
                      <m:r>
                        <m:rPr>
                          <m:nor/>
                        </m:rPr>
                        <a:rPr lang="vi-VN" sz="2800" b="0" i="1">
                          <a:latin typeface="+mj-lt"/>
                        </a:rPr>
                        <m:t>Max</m:t>
                      </m:r>
                      <m:r>
                        <m:rPr>
                          <m:nor/>
                        </m:rPr>
                        <a:rPr lang="vi-VN" sz="2800" b="0" i="1">
                          <a:latin typeface="+mj-lt"/>
                        </a:rPr>
                        <m:t>, </m:t>
                      </m:r>
                      <m:r>
                        <m:rPr>
                          <m:nor/>
                        </m:rPr>
                        <a:rPr lang="vi-VN" sz="2800" b="0" i="1">
                          <a:latin typeface="+mj-lt"/>
                        </a:rPr>
                        <m:t>Increase</m:t>
                      </m:r>
                      <m:r>
                        <m:rPr>
                          <m:nor/>
                        </m:rPr>
                        <a:rPr lang="vi-VN" sz="2800" b="0" i="1">
                          <a:latin typeface="+mj-lt"/>
                        </a:rPr>
                        <m:t>−</m:t>
                      </m:r>
                      <m:r>
                        <m:rPr>
                          <m:nor/>
                        </m:rPr>
                        <a:rPr lang="vi-VN" sz="2800" b="0" i="1">
                          <a:latin typeface="+mj-lt"/>
                        </a:rPr>
                        <m:t>Key</m:t>
                      </m:r>
                      <m:r>
                        <m:rPr>
                          <m:nor/>
                        </m:rPr>
                        <a:rPr lang="vi-VN" sz="2800" b="0" i="1">
                          <a:latin typeface="+mj-lt"/>
                        </a:rPr>
                        <m:t>: </m:t>
                      </m:r>
                      <m:r>
                        <a:rPr lang="vi-VN" sz="2800" b="0" i="1">
                          <a:latin typeface="Cambria Math" panose="02040503050406030204" pitchFamily="18" charset="0"/>
                        </a:rPr>
                        <m:t>𝑂</m:t>
                      </m:r>
                      <m:d>
                        <m:dPr>
                          <m:ctrlPr>
                            <a:rPr lang="ar-AE" sz="2800" b="0" i="1">
                              <a:latin typeface="Cambria Math" panose="02040503050406030204" pitchFamily="18" charset="0"/>
                            </a:rPr>
                          </m:ctrlPr>
                        </m:dPr>
                        <m:e>
                          <m:func>
                            <m:funcPr>
                              <m:ctrlPr>
                                <a:rPr lang="ar-AE" sz="2800" b="0" i="1">
                                  <a:latin typeface="Cambria Math" panose="02040503050406030204" pitchFamily="18" charset="0"/>
                                </a:rPr>
                              </m:ctrlPr>
                            </m:funcPr>
                            <m:fName>
                              <m:r>
                                <m:rPr>
                                  <m:sty m:val="p"/>
                                </m:rPr>
                                <a:rPr lang="vi-VN" sz="2800" b="0" i="0">
                                  <a:latin typeface="Cambria Math" panose="02040503050406030204" pitchFamily="18" charset="0"/>
                                </a:rPr>
                                <m:t>log</m:t>
                              </m:r>
                            </m:fName>
                            <m:e>
                              <m:r>
                                <a:rPr lang="ar-AE" sz="2800" b="0" i="1">
                                  <a:latin typeface="Cambria Math" panose="02040503050406030204" pitchFamily="18" charset="0"/>
                                </a:rPr>
                                <m:t>𝑛</m:t>
                              </m:r>
                            </m:e>
                          </m:func>
                        </m:e>
                      </m:d>
                      <m:r>
                        <a:rPr lang="ar-AE" sz="2800" b="0" i="0">
                          <a:latin typeface="Cambria Math" panose="02040503050406030204" pitchFamily="18" charset="0"/>
                        </a:rPr>
                        <m:t>, </m:t>
                      </m:r>
                      <m:r>
                        <m:rPr>
                          <m:nor/>
                        </m:rPr>
                        <a:rPr lang="vi-VN" sz="2800" b="0" i="1">
                          <a:latin typeface="+mj-lt"/>
                        </a:rPr>
                        <m:t>Build</m:t>
                      </m:r>
                      <m:r>
                        <m:rPr>
                          <m:nor/>
                        </m:rPr>
                        <a:rPr lang="vi-VN" sz="2800" b="0" i="1">
                          <a:latin typeface="+mj-lt"/>
                        </a:rPr>
                        <m:t>−</m:t>
                      </m:r>
                      <m:r>
                        <m:rPr>
                          <m:nor/>
                        </m:rPr>
                        <a:rPr lang="vi-VN" sz="2800" b="0" i="1">
                          <a:latin typeface="+mj-lt"/>
                        </a:rPr>
                        <m:t>Heap</m:t>
                      </m:r>
                      <m:r>
                        <m:rPr>
                          <m:nor/>
                        </m:rPr>
                        <a:rPr lang="vi-VN" sz="2800" b="0" i="1">
                          <a:latin typeface="+mj-lt"/>
                        </a:rPr>
                        <m:t>: </m:t>
                      </m:r>
                      <m:r>
                        <a:rPr lang="vi-VN" sz="2800" b="0" i="1">
                          <a:latin typeface="Cambria Math" panose="02040503050406030204" pitchFamily="18" charset="0"/>
                        </a:rPr>
                        <m:t>𝑂</m:t>
                      </m:r>
                      <m:d>
                        <m:dPr>
                          <m:ctrlPr>
                            <a:rPr lang="ar-AE" sz="2800" b="0" i="1">
                              <a:latin typeface="Cambria Math" panose="02040503050406030204" pitchFamily="18" charset="0"/>
                            </a:rPr>
                          </m:ctrlPr>
                        </m:dPr>
                        <m:e>
                          <m:r>
                            <a:rPr lang="ar-AE" sz="2800" b="0" i="1">
                              <a:latin typeface="Cambria Math" panose="02040503050406030204" pitchFamily="18" charset="0"/>
                            </a:rPr>
                            <m:t>𝑛</m:t>
                          </m:r>
                        </m:e>
                      </m:d>
                    </m:oMath>
                  </m:oMathPara>
                </a14:m>
                <a:endParaRPr lang="ar-AE" sz="2800" b="0" dirty="0">
                  <a:latin typeface="+mj-lt"/>
                </a:endParaRPr>
              </a:p>
              <a:p>
                <a:pPr algn="just">
                  <a:buFont typeface="Arial" panose="020B0604020202020204" pitchFamily="34" charset="0"/>
                  <a:buChar char="•"/>
                </a:pPr>
                <a:r>
                  <a:rPr lang="vi-VN" sz="2800" b="1" dirty="0">
                    <a:latin typeface="+mj-lt"/>
                  </a:rPr>
                  <a:t> Nắm nguyên lý:</a:t>
                </a:r>
                <a:r>
                  <a:rPr lang="vi-VN" sz="2800" dirty="0">
                    <a:latin typeface="+mj-lt"/>
                  </a:rPr>
                  <a:t> Cách duy trì tính chất heap sau mỗi thao tác.</a:t>
                </a:r>
              </a:p>
              <a:p>
                <a:pPr algn="just">
                  <a:buFont typeface="Arial" panose="020B0604020202020204" pitchFamily="34" charset="0"/>
                  <a:buChar char="•"/>
                </a:pPr>
                <a:r>
                  <a:rPr lang="vi-VN" sz="2800" b="1" dirty="0">
                    <a:latin typeface="+mj-lt"/>
                  </a:rPr>
                  <a:t> Thiết kế ứng dụng:</a:t>
                </a:r>
                <a:r>
                  <a:rPr lang="vi-VN" sz="2800" dirty="0">
                    <a:latin typeface="+mj-lt"/>
                  </a:rPr>
                  <a:t> Vận dụng Max Heap cho “Hệ thống Xếp lịch bệnh nhân cấp cứu”.</a:t>
                </a:r>
              </a:p>
              <a:p>
                <a:pPr algn="just">
                  <a:buFont typeface="Arial" panose="020B0604020202020204" pitchFamily="34" charset="0"/>
                  <a:buChar char="•"/>
                </a:pPr>
                <a:r>
                  <a:rPr lang="vi-VN" sz="2800" b="1" dirty="0">
                    <a:latin typeface="+mj-lt"/>
                  </a:rPr>
                  <a:t> Mô phỏng &amp; đánh giá:</a:t>
                </a:r>
                <a:r>
                  <a:rPr lang="vi-VN" sz="2800" dirty="0">
                    <a:latin typeface="+mj-lt"/>
                  </a:rPr>
                  <a:t> Minh họa luồng xử lý và kiểm tra hiệu quả.</a:t>
                </a:r>
              </a:p>
            </p:txBody>
          </p:sp>
        </mc:Choice>
        <mc:Fallback xmlns="">
          <p:sp>
            <p:nvSpPr>
              <p:cNvPr id="8" name="TextBox 7">
                <a:extLst>
                  <a:ext uri="{FF2B5EF4-FFF2-40B4-BE49-F238E27FC236}">
                    <a16:creationId xmlns:a16="http://schemas.microsoft.com/office/drawing/2014/main" id="{4E083332-D884-AE48-C02C-29A844234F9E}"/>
                  </a:ext>
                </a:extLst>
              </p:cNvPr>
              <p:cNvSpPr txBox="1">
                <a:spLocks noRot="1" noChangeAspect="1" noMove="1" noResize="1" noEditPoints="1" noAdjustHandles="1" noChangeArrowheads="1" noChangeShapeType="1" noTextEdit="1"/>
              </p:cNvSpPr>
              <p:nvPr/>
            </p:nvSpPr>
            <p:spPr>
              <a:xfrm>
                <a:off x="0" y="2114550"/>
                <a:ext cx="12192000" cy="3108543"/>
              </a:xfrm>
              <a:prstGeom prst="rect">
                <a:avLst/>
              </a:prstGeom>
              <a:blipFill>
                <a:blip r:embed="rId4"/>
                <a:stretch>
                  <a:fillRect l="-1000" t="-2157" r="-1000" b="-4510"/>
                </a:stretch>
              </a:blipFill>
            </p:spPr>
            <p:txBody>
              <a:bodyPr/>
              <a:lstStyle/>
              <a:p>
                <a:r>
                  <a:rPr lang="vi-VN">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8BC6638B-745C-6956-6A91-2D6A9BDF86A0}"/>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DE10B653-B1D6-7B3A-1DF5-FAE1D5D9255C}"/>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2" name="Title 1">
            <a:extLst>
              <a:ext uri="{FF2B5EF4-FFF2-40B4-BE49-F238E27FC236}">
                <a16:creationId xmlns:a16="http://schemas.microsoft.com/office/drawing/2014/main" id="{8F1F1B73-D199-5D9B-24A3-9E328B6F6B3A}"/>
              </a:ext>
            </a:extLst>
          </p:cNvPr>
          <p:cNvSpPr>
            <a:spLocks noGrp="1"/>
          </p:cNvSpPr>
          <p:nvPr>
            <p:ph type="title"/>
          </p:nvPr>
        </p:nvSpPr>
        <p:spPr>
          <a:xfrm>
            <a:off x="362481" y="1428241"/>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CẤU TRÚC</a:t>
            </a:r>
          </a:p>
        </p:txBody>
      </p:sp>
      <p:sp>
        <p:nvSpPr>
          <p:cNvPr id="3" name="TextBox 2">
            <a:extLst>
              <a:ext uri="{FF2B5EF4-FFF2-40B4-BE49-F238E27FC236}">
                <a16:creationId xmlns:a16="http://schemas.microsoft.com/office/drawing/2014/main" id="{F0BEF412-0381-E4AE-70F0-72C95173D116}"/>
              </a:ext>
            </a:extLst>
          </p:cNvPr>
          <p:cNvSpPr txBox="1"/>
          <p:nvPr/>
        </p:nvSpPr>
        <p:spPr>
          <a:xfrm>
            <a:off x="1313919" y="2526183"/>
            <a:ext cx="7802880" cy="2958502"/>
          </a:xfrm>
          <a:prstGeom prst="rect">
            <a:avLst/>
          </a:prstGeom>
          <a:noFill/>
        </p:spPr>
        <p:txBody>
          <a:bodyPr wrap="square" rtlCol="0">
            <a:spAutoFit/>
          </a:bodyPr>
          <a:lstStyle/>
          <a:p>
            <a:pPr>
              <a:lnSpc>
                <a:spcPct val="150000"/>
              </a:lnSpc>
            </a:pPr>
            <a:r>
              <a:rPr lang="en-US" sz="3200" b="1" dirty="0" err="1">
                <a:latin typeface="Times New Roman" panose="02020603050405020304" pitchFamily="18" charset="0"/>
                <a:cs typeface="Times New Roman" panose="02020603050405020304" pitchFamily="18" charset="0"/>
              </a:rPr>
              <a:t>Tổng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&amp; </a:t>
            </a:r>
            <a:r>
              <a:rPr lang="en-US" sz="3200" b="1" dirty="0" err="1">
                <a:latin typeface="Times New Roman" panose="02020603050405020304" pitchFamily="18" charset="0"/>
                <a:cs typeface="Times New Roman" panose="02020603050405020304" pitchFamily="18" charset="0"/>
              </a:rPr>
              <a:t>vấn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đề</a:t>
            </a:r>
            <a:r>
              <a:rPr lang="en-US" sz="3200" b="1" dirty="0">
                <a:latin typeface="Times New Roman" panose="02020603050405020304" pitchFamily="18" charset="0"/>
                <a:cs typeface="Times New Roman" panose="02020603050405020304" pitchFamily="18" charset="0"/>
              </a:rPr>
              <a:t> </a:t>
            </a:r>
          </a:p>
          <a:p>
            <a:pPr>
              <a:lnSpc>
                <a:spcPct val="150000"/>
              </a:lnSpc>
            </a:pPr>
            <a:r>
              <a:rPr lang="en-US" sz="3200" b="1" dirty="0">
                <a:latin typeface="Times New Roman" panose="02020603050405020304" pitchFamily="18" charset="0"/>
                <a:cs typeface="Times New Roman" panose="02020603050405020304" pitchFamily="18" charset="0"/>
              </a:rPr>
              <a:t>Nguyên </a:t>
            </a: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Max Heap</a:t>
            </a:r>
          </a:p>
          <a:p>
            <a:pPr>
              <a:lnSpc>
                <a:spcPct val="150000"/>
              </a:lnSpc>
            </a:pPr>
            <a:r>
              <a:rPr lang="en-US" sz="3200" b="1" dirty="0" err="1">
                <a:latin typeface="Times New Roman" panose="02020603050405020304" pitchFamily="18" charset="0"/>
                <a:cs typeface="Times New Roman" panose="02020603050405020304" pitchFamily="18" charset="0"/>
              </a:rPr>
              <a:t>Thiết</a:t>
            </a:r>
            <a:r>
              <a:rPr lang="en-US" sz="3200" b="1" dirty="0">
                <a:latin typeface="Times New Roman" panose="02020603050405020304" pitchFamily="18" charset="0"/>
                <a:cs typeface="Times New Roman" panose="02020603050405020304" pitchFamily="18" charset="0"/>
              </a:rPr>
              <a:t> kế </a:t>
            </a:r>
            <a:r>
              <a:rPr lang="en-US" sz="3200" b="1" dirty="0" err="1">
                <a:latin typeface="Times New Roman" panose="02020603050405020304" pitchFamily="18" charset="0"/>
                <a:cs typeface="Times New Roman" panose="02020603050405020304" pitchFamily="18" charset="0"/>
              </a:rPr>
              <a:t>hệ</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thống</a:t>
            </a:r>
            <a:r>
              <a:rPr lang="en-US" sz="3200" b="1" dirty="0">
                <a:latin typeface="Times New Roman" panose="02020603050405020304" pitchFamily="18" charset="0"/>
                <a:cs typeface="Times New Roman" panose="02020603050405020304" pitchFamily="18" charset="0"/>
              </a:rPr>
              <a:t> &amp; </a:t>
            </a:r>
            <a:r>
              <a:rPr lang="en-US" sz="3200" b="1" dirty="0" err="1">
                <a:latin typeface="Times New Roman" panose="02020603050405020304" pitchFamily="18" charset="0"/>
                <a:cs typeface="Times New Roman" panose="02020603050405020304" pitchFamily="18" charset="0"/>
              </a:rPr>
              <a:t>mô</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phỏng</a:t>
            </a:r>
            <a:endParaRPr lang="en-US" sz="3200" b="1" dirty="0">
              <a:latin typeface="Times New Roman" panose="02020603050405020304" pitchFamily="18" charset="0"/>
              <a:cs typeface="Times New Roman" panose="02020603050405020304" pitchFamily="18" charset="0"/>
            </a:endParaRPr>
          </a:p>
          <a:p>
            <a:pPr>
              <a:lnSpc>
                <a:spcPct val="150000"/>
              </a:lnSpc>
            </a:pPr>
            <a:r>
              <a:rPr lang="en-US" sz="3200" b="1" dirty="0" err="1">
                <a:latin typeface="Times New Roman" panose="02020603050405020304" pitchFamily="18" charset="0"/>
                <a:cs typeface="Times New Roman" panose="02020603050405020304" pitchFamily="18" charset="0"/>
              </a:rPr>
              <a:t>Kết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luận</a:t>
            </a:r>
            <a:endParaRPr lang="en-US" sz="3200" b="1" dirty="0">
              <a:latin typeface="Times New Roman" panose="02020603050405020304" pitchFamily="18" charset="0"/>
              <a:cs typeface="Times New Roman" panose="02020603050405020304" pitchFamily="18" charset="0"/>
            </a:endParaRPr>
          </a:p>
        </p:txBody>
      </p:sp>
      <p:sp>
        <p:nvSpPr>
          <p:cNvPr id="4" name="Date Placeholder 6">
            <a:extLst>
              <a:ext uri="{FF2B5EF4-FFF2-40B4-BE49-F238E27FC236}">
                <a16:creationId xmlns:a16="http://schemas.microsoft.com/office/drawing/2014/main" id="{C404C316-A1F0-508E-D6D1-26244409B038}"/>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EAFFCDEB-220B-876D-EECE-FA372807A1C8}"/>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3</a:t>
            </a:fld>
            <a:endParaRPr lang="en-US" dirty="0">
              <a:solidFill>
                <a:schemeClr val="tx1"/>
              </a:solidFill>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id="{BD20CE70-B342-01FD-4D13-84E41E23BDEC}"/>
              </a:ext>
            </a:extLst>
          </p:cNvPr>
          <p:cNvSpPr/>
          <p:nvPr/>
        </p:nvSpPr>
        <p:spPr>
          <a:xfrm>
            <a:off x="717753" y="2717686"/>
            <a:ext cx="530942" cy="530942"/>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1</a:t>
            </a:r>
          </a:p>
        </p:txBody>
      </p:sp>
      <p:sp>
        <p:nvSpPr>
          <p:cNvPr id="9" name="Oval 8">
            <a:extLst>
              <a:ext uri="{FF2B5EF4-FFF2-40B4-BE49-F238E27FC236}">
                <a16:creationId xmlns:a16="http://schemas.microsoft.com/office/drawing/2014/main" id="{4F3FE2A7-A1A6-35BF-D39B-B3998E96D60F}"/>
              </a:ext>
            </a:extLst>
          </p:cNvPr>
          <p:cNvSpPr/>
          <p:nvPr/>
        </p:nvSpPr>
        <p:spPr>
          <a:xfrm>
            <a:off x="717753" y="3458811"/>
            <a:ext cx="530942" cy="530942"/>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2</a:t>
            </a:r>
          </a:p>
        </p:txBody>
      </p:sp>
      <p:sp>
        <p:nvSpPr>
          <p:cNvPr id="10" name="Oval 9">
            <a:extLst>
              <a:ext uri="{FF2B5EF4-FFF2-40B4-BE49-F238E27FC236}">
                <a16:creationId xmlns:a16="http://schemas.microsoft.com/office/drawing/2014/main" id="{16EA65EA-90B2-C400-47E3-BD026CB02CD7}"/>
              </a:ext>
            </a:extLst>
          </p:cNvPr>
          <p:cNvSpPr/>
          <p:nvPr/>
        </p:nvSpPr>
        <p:spPr>
          <a:xfrm>
            <a:off x="717753" y="4166455"/>
            <a:ext cx="530942" cy="530942"/>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3</a:t>
            </a:r>
          </a:p>
        </p:txBody>
      </p:sp>
      <p:sp>
        <p:nvSpPr>
          <p:cNvPr id="11" name="Oval 10">
            <a:extLst>
              <a:ext uri="{FF2B5EF4-FFF2-40B4-BE49-F238E27FC236}">
                <a16:creationId xmlns:a16="http://schemas.microsoft.com/office/drawing/2014/main" id="{DA7BB61F-3150-9CC4-4AF7-A83D1784ED60}"/>
              </a:ext>
            </a:extLst>
          </p:cNvPr>
          <p:cNvSpPr/>
          <p:nvPr/>
        </p:nvSpPr>
        <p:spPr>
          <a:xfrm>
            <a:off x="717753" y="4905159"/>
            <a:ext cx="530942" cy="530942"/>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1619932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8DB31F58-27B3-86CE-57B3-66DE95CC24DD}"/>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08562CC0-4C7A-B9D8-4B4A-9F4ECFC60CFC}"/>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4" name="Date Placeholder 6">
            <a:extLst>
              <a:ext uri="{FF2B5EF4-FFF2-40B4-BE49-F238E27FC236}">
                <a16:creationId xmlns:a16="http://schemas.microsoft.com/office/drawing/2014/main" id="{AFA56027-1F28-176C-A31E-428816D58681}"/>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A684E493-E0D0-DB8D-34CE-21BC73712101}"/>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4</a:t>
            </a:fld>
            <a:endParaRPr lang="en-US"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56FDB12-2A71-00D0-63A4-A63A8C9828A9}"/>
              </a:ext>
            </a:extLst>
          </p:cNvPr>
          <p:cNvSpPr txBox="1"/>
          <p:nvPr/>
        </p:nvSpPr>
        <p:spPr>
          <a:xfrm>
            <a:off x="198882" y="1394960"/>
            <a:ext cx="6158484" cy="584775"/>
          </a:xfrm>
          <a:prstGeom prst="rect">
            <a:avLst/>
          </a:prstGeom>
          <a:noFill/>
        </p:spPr>
        <p:txBody>
          <a:bodyPr wrap="square">
            <a:spAutoFit/>
          </a:bodyPr>
          <a:lstStyle/>
          <a:p>
            <a:r>
              <a:rPr lang="vi-VN" sz="3200" b="1" dirty="0">
                <a:latin typeface="+mj-lt"/>
              </a:rPr>
              <a:t>Tổng quan &amp; vấn đề</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3100A6A-1016-A4B1-AF9E-0429EDDF796D}"/>
                  </a:ext>
                </a:extLst>
              </p:cNvPr>
              <p:cNvSpPr txBox="1"/>
              <p:nvPr/>
            </p:nvSpPr>
            <p:spPr>
              <a:xfrm>
                <a:off x="198882" y="2317253"/>
                <a:ext cx="11413998" cy="3376437"/>
              </a:xfrm>
              <a:prstGeom prst="rect">
                <a:avLst/>
              </a:prstGeom>
              <a:noFill/>
            </p:spPr>
            <p:txBody>
              <a:bodyPr wrap="square">
                <a:spAutoFit/>
              </a:bodyPr>
              <a:lstStyle/>
              <a:p>
                <a:pPr>
                  <a:buFont typeface="Arial" panose="020B0604020202020204" pitchFamily="34" charset="0"/>
                  <a:buChar char="•"/>
                </a:pPr>
                <a:r>
                  <a:rPr lang="vi-VN" sz="2400" b="1" dirty="0">
                    <a:latin typeface="+mj-lt"/>
                  </a:rPr>
                  <a:t>Định nghĩa:</a:t>
                </a:r>
                <a:r>
                  <a:rPr lang="vi-VN" sz="2400" dirty="0">
                    <a:latin typeface="+mj-lt"/>
                  </a:rPr>
                  <a:t> Max Heap là cấu trúc dữ liệu cây nhị phân hoàn chỉnh, trong đó khóa của mỗi nút luôn lớn hơn hoặc bằng khóa của các nút con. Phần tử lớn nhất nằm ở gốc.</a:t>
                </a:r>
              </a:p>
              <a:p>
                <a:pPr>
                  <a:buFont typeface="Arial" panose="020B0604020202020204" pitchFamily="34" charset="0"/>
                  <a:buChar char="•"/>
                </a:pPr>
                <a:r>
                  <a:rPr lang="vi-VN" sz="2400" b="1" dirty="0">
                    <a:latin typeface="+mj-lt"/>
                  </a:rPr>
                  <a:t>Biểu diễn:</a:t>
                </a:r>
                <a:r>
                  <a:rPr lang="vi-VN" sz="2400" dirty="0">
                    <a:latin typeface="+mj-lt"/>
                  </a:rPr>
                  <a:t> Thường lưu bằng mảng; với chỉ số </a:t>
                </a:r>
                <a14:m>
                  <m:oMath xmlns:m="http://schemas.openxmlformats.org/officeDocument/2006/math">
                    <m:r>
                      <a:rPr lang="vi-VN" sz="2400" i="1">
                        <a:latin typeface="Cambria Math" panose="02040503050406030204" pitchFamily="18" charset="0"/>
                      </a:rPr>
                      <m:t>𝑖</m:t>
                    </m:r>
                  </m:oMath>
                </a14:m>
                <a:r>
                  <a:rPr lang="vi-VN" sz="2400" dirty="0">
                    <a:latin typeface="+mj-lt"/>
                  </a:rPr>
                  <a:t>, then:</a:t>
                </a:r>
              </a:p>
              <a:p>
                <a:pPr>
                  <a:buNone/>
                </a:pPr>
                <a14:m>
                  <m:oMathPara xmlns:m="http://schemas.openxmlformats.org/officeDocument/2006/math">
                    <m:oMathParaPr>
                      <m:jc m:val="centerGroup"/>
                    </m:oMathParaPr>
                    <m:oMath xmlns:m="http://schemas.openxmlformats.org/officeDocument/2006/math">
                      <m:r>
                        <m:rPr>
                          <m:nor/>
                        </m:rPr>
                        <a:rPr lang="vi-VN" sz="2400" b="0">
                          <a:latin typeface="+mj-lt"/>
                        </a:rPr>
                        <m:t>left</m:t>
                      </m:r>
                      <m:d>
                        <m:dPr>
                          <m:ctrlPr>
                            <a:rPr lang="ar-AE" sz="2400" b="0" i="1">
                              <a:latin typeface="Cambria Math" panose="02040503050406030204" pitchFamily="18" charset="0"/>
                            </a:rPr>
                          </m:ctrlPr>
                        </m:dPr>
                        <m:e>
                          <m:r>
                            <a:rPr lang="ar-AE" sz="2400" b="0" i="1">
                              <a:latin typeface="Cambria Math" panose="02040503050406030204" pitchFamily="18" charset="0"/>
                            </a:rPr>
                            <m:t>𝑖</m:t>
                          </m:r>
                        </m:e>
                      </m:d>
                      <m:r>
                        <a:rPr lang="ar-AE" sz="2400" b="0" i="0">
                          <a:latin typeface="Cambria Math" panose="02040503050406030204" pitchFamily="18" charset="0"/>
                        </a:rPr>
                        <m:t>=</m:t>
                      </m:r>
                      <m:r>
                        <a:rPr lang="ar-AE" sz="2400" b="0" i="0">
                          <a:latin typeface="Cambria Math" panose="02040503050406030204" pitchFamily="18" charset="0"/>
                        </a:rPr>
                        <m:t>2</m:t>
                      </m:r>
                      <m:r>
                        <a:rPr lang="ar-AE" sz="2400" b="0" i="1">
                          <a:latin typeface="Cambria Math" panose="02040503050406030204" pitchFamily="18" charset="0"/>
                        </a:rPr>
                        <m:t>𝑖</m:t>
                      </m:r>
                      <m:r>
                        <a:rPr lang="vi-VN" sz="2400" b="0" i="1" smtClean="0">
                          <a:latin typeface="Cambria Math" panose="02040503050406030204" pitchFamily="18" charset="0"/>
                        </a:rPr>
                        <m:t>+</m:t>
                      </m:r>
                      <m:r>
                        <a:rPr lang="vi-VN" sz="2400" b="0" i="1" smtClean="0">
                          <a:latin typeface="Cambria Math" panose="02040503050406030204" pitchFamily="18" charset="0"/>
                        </a:rPr>
                        <m:t>1</m:t>
                      </m:r>
                      <m:r>
                        <a:rPr lang="ar-AE" sz="2400" b="0" i="0">
                          <a:latin typeface="Cambria Math" panose="02040503050406030204" pitchFamily="18" charset="0"/>
                        </a:rPr>
                        <m:t>, </m:t>
                      </m:r>
                      <m:r>
                        <m:rPr>
                          <m:nor/>
                        </m:rPr>
                        <a:rPr lang="vi-VN" sz="2400" b="0" i="1">
                          <a:latin typeface="+mj-lt"/>
                        </a:rPr>
                        <m:t>right</m:t>
                      </m:r>
                      <m:d>
                        <m:dPr>
                          <m:ctrlPr>
                            <a:rPr lang="ar-AE" sz="2400" b="0" i="1">
                              <a:latin typeface="Cambria Math" panose="02040503050406030204" pitchFamily="18" charset="0"/>
                            </a:rPr>
                          </m:ctrlPr>
                        </m:dPr>
                        <m:e>
                          <m:r>
                            <a:rPr lang="ar-AE" sz="2400" b="0" i="1">
                              <a:latin typeface="Cambria Math" panose="02040503050406030204" pitchFamily="18" charset="0"/>
                            </a:rPr>
                            <m:t>𝑖</m:t>
                          </m:r>
                        </m:e>
                      </m:d>
                      <m:r>
                        <a:rPr lang="ar-AE" sz="2400" b="0" i="0">
                          <a:latin typeface="Cambria Math" panose="02040503050406030204" pitchFamily="18" charset="0"/>
                        </a:rPr>
                        <m:t>=</m:t>
                      </m:r>
                      <m:r>
                        <a:rPr lang="ar-AE" sz="2400" b="0" i="0">
                          <a:latin typeface="Cambria Math" panose="02040503050406030204" pitchFamily="18" charset="0"/>
                        </a:rPr>
                        <m:t>2</m:t>
                      </m:r>
                      <m:r>
                        <a:rPr lang="ar-AE" sz="2400" b="0" i="1">
                          <a:latin typeface="Cambria Math" panose="02040503050406030204" pitchFamily="18" charset="0"/>
                        </a:rPr>
                        <m:t>𝑖</m:t>
                      </m:r>
                      <m:r>
                        <a:rPr lang="ar-AE" sz="2400" b="0" i="0">
                          <a:latin typeface="Cambria Math" panose="02040503050406030204" pitchFamily="18" charset="0"/>
                        </a:rPr>
                        <m:t>+</m:t>
                      </m:r>
                      <m:r>
                        <a:rPr lang="vi-VN" sz="2400" b="0" i="0" smtClean="0">
                          <a:latin typeface="Cambria Math" panose="02040503050406030204" pitchFamily="18" charset="0"/>
                        </a:rPr>
                        <m:t>2</m:t>
                      </m:r>
                      <m:r>
                        <a:rPr lang="ar-AE" sz="2400" b="0" i="0">
                          <a:latin typeface="Cambria Math" panose="02040503050406030204" pitchFamily="18" charset="0"/>
                        </a:rPr>
                        <m:t>, </m:t>
                      </m:r>
                      <m:r>
                        <m:rPr>
                          <m:nor/>
                        </m:rPr>
                        <a:rPr lang="vi-VN" sz="2400" b="0" i="1">
                          <a:latin typeface="+mj-lt"/>
                        </a:rPr>
                        <m:t>parent</m:t>
                      </m:r>
                      <m:d>
                        <m:dPr>
                          <m:ctrlPr>
                            <a:rPr lang="ar-AE" sz="2400" b="0" i="1">
                              <a:latin typeface="Cambria Math" panose="02040503050406030204" pitchFamily="18" charset="0"/>
                            </a:rPr>
                          </m:ctrlPr>
                        </m:dPr>
                        <m:e>
                          <m:r>
                            <a:rPr lang="ar-AE" sz="2400" b="0" i="1">
                              <a:latin typeface="Cambria Math" panose="02040503050406030204" pitchFamily="18" charset="0"/>
                            </a:rPr>
                            <m:t>𝑖</m:t>
                          </m:r>
                        </m:e>
                      </m:d>
                      <m:r>
                        <a:rPr lang="ar-AE" sz="2400" b="0" i="0">
                          <a:latin typeface="Cambria Math" panose="02040503050406030204" pitchFamily="18" charset="0"/>
                        </a:rPr>
                        <m:t>=</m:t>
                      </m:r>
                      <m:d>
                        <m:dPr>
                          <m:begChr m:val="⌊"/>
                          <m:endChr m:val="⌋"/>
                          <m:ctrlPr>
                            <a:rPr lang="ar-AE" sz="2400" b="0" i="1">
                              <a:latin typeface="Cambria Math" panose="02040503050406030204" pitchFamily="18" charset="0"/>
                            </a:rPr>
                          </m:ctrlPr>
                        </m:dPr>
                        <m:e>
                          <m:f>
                            <m:fPr>
                              <m:ctrlPr>
                                <a:rPr lang="ar-AE" sz="2400" b="0" i="1">
                                  <a:latin typeface="Cambria Math" panose="02040503050406030204" pitchFamily="18" charset="0"/>
                                </a:rPr>
                              </m:ctrlPr>
                            </m:fPr>
                            <m:num>
                              <m:r>
                                <a:rPr lang="ar-AE" sz="2400" b="0" i="1">
                                  <a:latin typeface="Cambria Math" panose="02040503050406030204" pitchFamily="18" charset="0"/>
                                </a:rPr>
                                <m:t>𝑖</m:t>
                              </m:r>
                              <m:r>
                                <a:rPr lang="vi-VN" sz="2400" b="0" i="1" smtClean="0">
                                  <a:latin typeface="Cambria Math" panose="02040503050406030204" pitchFamily="18" charset="0"/>
                                </a:rPr>
                                <m:t>−</m:t>
                              </m:r>
                              <m:r>
                                <a:rPr lang="vi-VN" sz="2400" b="0" i="1" smtClean="0">
                                  <a:latin typeface="Cambria Math" panose="02040503050406030204" pitchFamily="18" charset="0"/>
                                </a:rPr>
                                <m:t>1</m:t>
                              </m:r>
                            </m:num>
                            <m:den>
                              <m:r>
                                <a:rPr lang="ar-AE" sz="2400" b="0" i="0">
                                  <a:latin typeface="Cambria Math" panose="02040503050406030204" pitchFamily="18" charset="0"/>
                                </a:rPr>
                                <m:t>2</m:t>
                              </m:r>
                            </m:den>
                          </m:f>
                        </m:e>
                      </m:d>
                    </m:oMath>
                  </m:oMathPara>
                </a14:m>
                <a:endParaRPr lang="ar-AE" sz="2400" b="0" dirty="0">
                  <a:latin typeface="+mj-lt"/>
                </a:endParaRPr>
              </a:p>
              <a:p>
                <a:pPr>
                  <a:buFont typeface="Arial" panose="020B0604020202020204" pitchFamily="34" charset="0"/>
                  <a:buChar char="•"/>
                </a:pPr>
                <a:r>
                  <a:rPr lang="vi-VN" sz="2400" b="1" dirty="0">
                    <a:latin typeface="+mj-lt"/>
                  </a:rPr>
                  <a:t>Bài toán điển hình:</a:t>
                </a:r>
                <a:r>
                  <a:rPr lang="vi-VN" sz="2400" dirty="0">
                    <a:latin typeface="+mj-lt"/>
                  </a:rPr>
                  <a:t> Cần lấy phần tử “quan trọng nhất” nhanh chóng (ví dụ: ưu tiên cao nhất), như xếp lịch cấp cứu, lập lịch CPU, sắp xếp top-k.</a:t>
                </a:r>
              </a:p>
              <a:p>
                <a:pPr>
                  <a:buFont typeface="Arial" panose="020B0604020202020204" pitchFamily="34" charset="0"/>
                  <a:buChar char="•"/>
                </a:pPr>
                <a:r>
                  <a:rPr lang="vi-VN" sz="2400" b="1" dirty="0">
                    <a:latin typeface="+mj-lt"/>
                  </a:rPr>
                  <a:t>Yêu cầu hiệu năng:</a:t>
                </a:r>
                <a:r>
                  <a:rPr lang="vi-VN" sz="2400" dirty="0">
                    <a:latin typeface="+mj-lt"/>
                  </a:rPr>
                  <a:t> Thêm mới, cập nhật ưu tiên, lấy phần tử tối đa phải nhanh và ổn định khi dữ liệu lớn, động.</a:t>
                </a:r>
              </a:p>
            </p:txBody>
          </p:sp>
        </mc:Choice>
        <mc:Fallback xmlns="">
          <p:sp>
            <p:nvSpPr>
              <p:cNvPr id="12" name="TextBox 11">
                <a:extLst>
                  <a:ext uri="{FF2B5EF4-FFF2-40B4-BE49-F238E27FC236}">
                    <a16:creationId xmlns:a16="http://schemas.microsoft.com/office/drawing/2014/main" id="{E3100A6A-1016-A4B1-AF9E-0429EDDF796D}"/>
                  </a:ext>
                </a:extLst>
              </p:cNvPr>
              <p:cNvSpPr txBox="1">
                <a:spLocks noRot="1" noChangeAspect="1" noMove="1" noResize="1" noEditPoints="1" noAdjustHandles="1" noChangeArrowheads="1" noChangeShapeType="1" noTextEdit="1"/>
              </p:cNvSpPr>
              <p:nvPr/>
            </p:nvSpPr>
            <p:spPr>
              <a:xfrm>
                <a:off x="198882" y="2317253"/>
                <a:ext cx="11413998" cy="3376437"/>
              </a:xfrm>
              <a:prstGeom prst="rect">
                <a:avLst/>
              </a:prstGeom>
              <a:blipFill>
                <a:blip r:embed="rId4"/>
                <a:stretch>
                  <a:fillRect l="-855" t="-1444" r="-1389" b="-3430"/>
                </a:stretch>
              </a:blipFill>
            </p:spPr>
            <p:txBody>
              <a:bodyPr/>
              <a:lstStyle/>
              <a:p>
                <a:r>
                  <a:rPr lang="vi-VN">
                    <a:noFill/>
                  </a:rPr>
                  <a:t> </a:t>
                </a:r>
              </a:p>
            </p:txBody>
          </p:sp>
        </mc:Fallback>
      </mc:AlternateContent>
    </p:spTree>
    <p:extLst>
      <p:ext uri="{BB962C8B-B14F-4D97-AF65-F5344CB8AC3E}">
        <p14:creationId xmlns:p14="http://schemas.microsoft.com/office/powerpoint/2010/main" val="162423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786730A9-DD64-8620-725F-3CF3EE62BC88}"/>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938B2E4E-0235-D092-5171-7149F1D8E258}"/>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4" name="Date Placeholder 6">
            <a:extLst>
              <a:ext uri="{FF2B5EF4-FFF2-40B4-BE49-F238E27FC236}">
                <a16:creationId xmlns:a16="http://schemas.microsoft.com/office/drawing/2014/main" id="{F9A19C97-68AE-617B-B829-5C78636B661E}"/>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15053ED6-A84B-A110-44AE-657ABF7AE2F5}"/>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5</a:t>
            </a:fld>
            <a:endParaRPr lang="en-US"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917B3E1-C583-F5ED-07EE-A39561A398A0}"/>
              </a:ext>
            </a:extLst>
          </p:cNvPr>
          <p:cNvSpPr txBox="1"/>
          <p:nvPr/>
        </p:nvSpPr>
        <p:spPr>
          <a:xfrm>
            <a:off x="198882" y="1394960"/>
            <a:ext cx="6158484" cy="584775"/>
          </a:xfrm>
          <a:prstGeom prst="rect">
            <a:avLst/>
          </a:prstGeom>
          <a:noFill/>
        </p:spPr>
        <p:txBody>
          <a:bodyPr wrap="square">
            <a:spAutoFit/>
          </a:bodyPr>
          <a:lstStyle/>
          <a:p>
            <a:r>
              <a:rPr lang="vi-VN" sz="3200" b="1" dirty="0">
                <a:latin typeface="+mj-lt"/>
              </a:rPr>
              <a:t>Tổng quan &amp; vấn đề</a:t>
            </a:r>
          </a:p>
        </p:txBody>
      </p:sp>
      <p:pic>
        <p:nvPicPr>
          <p:cNvPr id="4098" name="Picture 2" descr="Cấu trúc dữ liệu Max Heap và Min Heap trong thuật toán Heap sort">
            <a:extLst>
              <a:ext uri="{FF2B5EF4-FFF2-40B4-BE49-F238E27FC236}">
                <a16:creationId xmlns:a16="http://schemas.microsoft.com/office/drawing/2014/main" id="{64B19C26-817C-010E-FA2C-32BB03E5D4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547" y="2289850"/>
            <a:ext cx="8085894" cy="33422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82290DC-99CF-76F3-D38A-2ABBAB12C78E}"/>
              </a:ext>
            </a:extLst>
          </p:cNvPr>
          <p:cNvSpPr txBox="1"/>
          <p:nvPr/>
        </p:nvSpPr>
        <p:spPr>
          <a:xfrm>
            <a:off x="2302986" y="6356350"/>
            <a:ext cx="4373117" cy="261610"/>
          </a:xfrm>
          <a:prstGeom prst="rect">
            <a:avLst/>
          </a:prstGeom>
          <a:noFill/>
        </p:spPr>
        <p:txBody>
          <a:bodyPr wrap="square">
            <a:spAutoFit/>
          </a:bodyPr>
          <a:lstStyle/>
          <a:p>
            <a:r>
              <a:rPr lang="vi-VN" sz="1100" i="1" dirty="0">
                <a:latin typeface="+mj-lt"/>
              </a:rPr>
              <a:t>https://funix.edu.vn/chia-se-kien-thuc/gioi-thieu-ve-thuat-toan-heap-sort/</a:t>
            </a:r>
          </a:p>
        </p:txBody>
      </p:sp>
    </p:spTree>
    <p:extLst>
      <p:ext uri="{BB962C8B-B14F-4D97-AF65-F5344CB8AC3E}">
        <p14:creationId xmlns:p14="http://schemas.microsoft.com/office/powerpoint/2010/main" val="3806703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A018E250-4378-CCFF-67E6-0B1FC57A1042}"/>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153AFD8A-B3C7-2F33-2D3A-F384B68396A5}"/>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4" name="Date Placeholder 6">
            <a:extLst>
              <a:ext uri="{FF2B5EF4-FFF2-40B4-BE49-F238E27FC236}">
                <a16:creationId xmlns:a16="http://schemas.microsoft.com/office/drawing/2014/main" id="{CCBA70CE-0092-682A-3565-E3DDA0F908BB}"/>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A676DFC8-0E47-5D1C-C197-C3C27D0697D0}"/>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6</a:t>
            </a:fld>
            <a:endParaRPr lang="en-US"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2C603C8-E800-0877-A31D-A6DBD159FDFF}"/>
              </a:ext>
            </a:extLst>
          </p:cNvPr>
          <p:cNvSpPr txBox="1"/>
          <p:nvPr/>
        </p:nvSpPr>
        <p:spPr>
          <a:xfrm>
            <a:off x="198882" y="1394960"/>
            <a:ext cx="6158484" cy="584775"/>
          </a:xfrm>
          <a:prstGeom prst="rect">
            <a:avLst/>
          </a:prstGeom>
          <a:noFill/>
        </p:spPr>
        <p:txBody>
          <a:bodyPr wrap="square">
            <a:spAutoFit/>
          </a:bodyPr>
          <a:lstStyle/>
          <a:p>
            <a:r>
              <a:rPr lang="vi-VN" sz="3200" b="1" dirty="0">
                <a:latin typeface="+mj-lt"/>
              </a:rPr>
              <a:t>Nguyên Lý</a:t>
            </a:r>
          </a:p>
        </p:txBody>
      </p:sp>
      <p:sp>
        <p:nvSpPr>
          <p:cNvPr id="13" name="TextBox 12">
            <a:extLst>
              <a:ext uri="{FF2B5EF4-FFF2-40B4-BE49-F238E27FC236}">
                <a16:creationId xmlns:a16="http://schemas.microsoft.com/office/drawing/2014/main" id="{B16EB919-4936-42EF-E8E3-1D07BA82DE7B}"/>
              </a:ext>
            </a:extLst>
          </p:cNvPr>
          <p:cNvSpPr txBox="1"/>
          <p:nvPr/>
        </p:nvSpPr>
        <p:spPr>
          <a:xfrm>
            <a:off x="290052" y="1979735"/>
            <a:ext cx="11414268" cy="1569660"/>
          </a:xfrm>
          <a:prstGeom prst="rect">
            <a:avLst/>
          </a:prstGeom>
          <a:noFill/>
        </p:spPr>
        <p:txBody>
          <a:bodyPr wrap="square">
            <a:spAutoFit/>
          </a:bodyPr>
          <a:lstStyle/>
          <a:p>
            <a:pPr algn="just">
              <a:buFont typeface="Arial" panose="020B0604020202020204" pitchFamily="34" charset="0"/>
              <a:buChar char="•"/>
            </a:pPr>
            <a:r>
              <a:rPr lang="vi-VN" sz="1600" b="1" dirty="0">
                <a:latin typeface="+mj-lt"/>
              </a:rPr>
              <a:t>Chèn (Insert):</a:t>
            </a:r>
            <a:endParaRPr lang="vi-VN" sz="1600" dirty="0">
              <a:latin typeface="+mj-lt"/>
            </a:endParaRPr>
          </a:p>
          <a:p>
            <a:pPr marL="742950" lvl="1" indent="-285750" algn="just">
              <a:buFont typeface="Arial" panose="020B0604020202020204" pitchFamily="34" charset="0"/>
              <a:buChar char="•"/>
            </a:pPr>
            <a:r>
              <a:rPr lang="vi-VN" sz="1600" dirty="0">
                <a:latin typeface="+mj-lt"/>
              </a:rPr>
              <a:t>Đưa phần tử vào cuối mảng, sift up so với cha.</a:t>
            </a:r>
          </a:p>
          <a:p>
            <a:pPr algn="just">
              <a:buNone/>
            </a:pPr>
            <a:endParaRPr lang="ar-AE" sz="1600" b="0" i="1" dirty="0">
              <a:latin typeface="+mj-lt"/>
            </a:endParaRPr>
          </a:p>
          <a:p>
            <a:pPr algn="just">
              <a:buFont typeface="Arial" panose="020B0604020202020204" pitchFamily="34" charset="0"/>
              <a:buChar char="•"/>
            </a:pPr>
            <a:r>
              <a:rPr lang="vi-VN" sz="1600" b="1" dirty="0">
                <a:latin typeface="+mj-lt"/>
              </a:rPr>
              <a:t>Lấy tối đa (Extract-Max):</a:t>
            </a:r>
            <a:endParaRPr lang="vi-VN" sz="1600" dirty="0">
              <a:latin typeface="+mj-lt"/>
            </a:endParaRPr>
          </a:p>
          <a:p>
            <a:pPr marL="742950" lvl="1" indent="-285750" algn="just">
              <a:buFont typeface="Arial" panose="020B0604020202020204" pitchFamily="34" charset="0"/>
              <a:buChar char="•"/>
            </a:pPr>
            <a:r>
              <a:rPr lang="vi-VN" sz="1600" dirty="0">
                <a:latin typeface="+mj-lt"/>
              </a:rPr>
              <a:t>Trả về gốc, đưa phần tử cuối lên gốc, rồi heapify xuống.</a:t>
            </a:r>
          </a:p>
          <a:p>
            <a:pPr algn="just">
              <a:buNone/>
            </a:pPr>
            <a:endParaRPr lang="ar-AE" sz="1600" b="0" i="1" dirty="0">
              <a:latin typeface="+mj-lt"/>
            </a:endParaRPr>
          </a:p>
        </p:txBody>
      </p:sp>
      <p:pic>
        <p:nvPicPr>
          <p:cNvPr id="2050" name="Picture 2">
            <a:extLst>
              <a:ext uri="{FF2B5EF4-FFF2-40B4-BE49-F238E27FC236}">
                <a16:creationId xmlns:a16="http://schemas.microsoft.com/office/drawing/2014/main" id="{A88EBCB1-5881-22F8-E16B-723552C2C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5197" y="2170736"/>
            <a:ext cx="3106301" cy="3106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447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ghtbox">
            <a:extLst>
              <a:ext uri="{FF2B5EF4-FFF2-40B4-BE49-F238E27FC236}">
                <a16:creationId xmlns:a16="http://schemas.microsoft.com/office/drawing/2014/main" id="{2B3E28A5-E749-323B-7859-7B172FDE31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906"/>
          <a:stretch>
            <a:fillRect/>
          </a:stretch>
        </p:blipFill>
        <p:spPr bwMode="auto">
          <a:xfrm>
            <a:off x="0" y="-91440"/>
            <a:ext cx="5899355" cy="275336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1028" name="Picture 4" descr="Lightbox">
            <a:extLst>
              <a:ext uri="{FF2B5EF4-FFF2-40B4-BE49-F238E27FC236}">
                <a16:creationId xmlns:a16="http://schemas.microsoft.com/office/drawing/2014/main" id="{2497AAA4-B417-B09A-ADE7-E13EAD5342C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5888"/>
          <a:stretch>
            <a:fillRect/>
          </a:stretch>
        </p:blipFill>
        <p:spPr bwMode="auto">
          <a:xfrm>
            <a:off x="5994400" y="393618"/>
            <a:ext cx="6096000" cy="2146382"/>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D0C1F0A-6F45-CA6D-8BC5-0F3B5260EDBF}"/>
              </a:ext>
            </a:extLst>
          </p:cNvPr>
          <p:cNvSpPr txBox="1"/>
          <p:nvPr/>
        </p:nvSpPr>
        <p:spPr>
          <a:xfrm>
            <a:off x="0" y="6581001"/>
            <a:ext cx="7005637" cy="276999"/>
          </a:xfrm>
          <a:prstGeom prst="rect">
            <a:avLst/>
          </a:prstGeom>
          <a:noFill/>
        </p:spPr>
        <p:txBody>
          <a:bodyPr wrap="square">
            <a:spAutoFit/>
          </a:bodyPr>
          <a:lstStyle/>
          <a:p>
            <a:r>
              <a:rPr lang="vi-VN" sz="1200" i="1" dirty="0">
                <a:latin typeface="+mj-lt"/>
              </a:rPr>
              <a:t>https://www.geeksforgeeks.org/dsa/introduction-to-max-heap-data-structure/</a:t>
            </a:r>
          </a:p>
        </p:txBody>
      </p:sp>
      <p:sp>
        <p:nvSpPr>
          <p:cNvPr id="2" name="TextBox 1">
            <a:extLst>
              <a:ext uri="{FF2B5EF4-FFF2-40B4-BE49-F238E27FC236}">
                <a16:creationId xmlns:a16="http://schemas.microsoft.com/office/drawing/2014/main" id="{74CB8201-4082-A5E5-CC3B-44DC224511EB}"/>
              </a:ext>
            </a:extLst>
          </p:cNvPr>
          <p:cNvSpPr txBox="1"/>
          <p:nvPr/>
        </p:nvSpPr>
        <p:spPr>
          <a:xfrm>
            <a:off x="1440426" y="3913239"/>
            <a:ext cx="9429136" cy="1815882"/>
          </a:xfrm>
          <a:prstGeom prst="rect">
            <a:avLst/>
          </a:prstGeom>
          <a:noFill/>
        </p:spPr>
        <p:txBody>
          <a:bodyPr wrap="square" rtlCol="0">
            <a:spAutoFit/>
          </a:bodyPr>
          <a:lstStyle/>
          <a:p>
            <a:r>
              <a:rPr lang="en-US" sz="2800" dirty="0"/>
              <a:t>Origin :  [  10   ,  5  ,  3  ,   2  ,   4   ]</a:t>
            </a:r>
          </a:p>
          <a:p>
            <a:r>
              <a:rPr lang="en-US" sz="2800" dirty="0"/>
              <a:t>Insert :  [  10   ,  5  ,  3  ,   2  ,   4   ,   </a:t>
            </a:r>
            <a:r>
              <a:rPr lang="en-US" sz="2800" dirty="0">
                <a:solidFill>
                  <a:srgbClr val="FF0000"/>
                </a:solidFill>
              </a:rPr>
              <a:t>15  </a:t>
            </a:r>
            <a:r>
              <a:rPr lang="en-US" sz="2800" dirty="0">
                <a:solidFill>
                  <a:srgbClr val="FF0000"/>
                </a:solidFill>
                <a:sym typeface="Wingdings" panose="05000000000000000000" pitchFamily="2" charset="2"/>
              </a:rPr>
              <a:t></a:t>
            </a:r>
            <a:r>
              <a:rPr lang="en-US" sz="2800" dirty="0">
                <a:solidFill>
                  <a:srgbClr val="FF0000"/>
                </a:solidFill>
              </a:rPr>
              <a:t>   </a:t>
            </a:r>
            <a:r>
              <a:rPr lang="en-US" sz="2800" dirty="0"/>
              <a:t>]</a:t>
            </a:r>
          </a:p>
          <a:p>
            <a:r>
              <a:rPr lang="en-US" sz="2800" dirty="0" err="1"/>
              <a:t>Heapify</a:t>
            </a:r>
            <a:r>
              <a:rPr lang="en-US" sz="2800" dirty="0"/>
              <a:t> up :  [  10   ,  5  ,  </a:t>
            </a:r>
            <a:r>
              <a:rPr lang="en-US" sz="2800" dirty="0">
                <a:solidFill>
                  <a:srgbClr val="FF0000"/>
                </a:solidFill>
              </a:rPr>
              <a:t>15 </a:t>
            </a:r>
            <a:r>
              <a:rPr lang="en-US" sz="2800" dirty="0">
                <a:solidFill>
                  <a:srgbClr val="FF0000"/>
                </a:solidFill>
                <a:sym typeface="Wingdings" panose="05000000000000000000" pitchFamily="2" charset="2"/>
              </a:rPr>
              <a:t></a:t>
            </a:r>
            <a:r>
              <a:rPr lang="en-US" sz="2800" dirty="0">
                <a:solidFill>
                  <a:srgbClr val="FF0000"/>
                </a:solidFill>
              </a:rPr>
              <a:t>  </a:t>
            </a:r>
            <a:r>
              <a:rPr lang="en-US" sz="2800" dirty="0"/>
              <a:t>,   2  ,   4   ,   </a:t>
            </a:r>
            <a:r>
              <a:rPr lang="en-US" sz="2800" dirty="0">
                <a:solidFill>
                  <a:srgbClr val="FF0000"/>
                </a:solidFill>
              </a:rPr>
              <a:t>3</a:t>
            </a:r>
            <a:r>
              <a:rPr lang="en-US" sz="2800" dirty="0"/>
              <a:t> ]</a:t>
            </a:r>
          </a:p>
          <a:p>
            <a:r>
              <a:rPr lang="en-US" sz="2800" dirty="0" err="1"/>
              <a:t>Heapify</a:t>
            </a:r>
            <a:r>
              <a:rPr lang="en-US" sz="2800" dirty="0"/>
              <a:t> up :  [  </a:t>
            </a:r>
            <a:r>
              <a:rPr lang="en-US" sz="2800" dirty="0">
                <a:solidFill>
                  <a:srgbClr val="FF0000"/>
                </a:solidFill>
              </a:rPr>
              <a:t>15 </a:t>
            </a:r>
            <a:r>
              <a:rPr lang="en-US" sz="2800" dirty="0">
                <a:solidFill>
                  <a:srgbClr val="FF0000"/>
                </a:solidFill>
                <a:sym typeface="Wingdings" panose="05000000000000000000" pitchFamily="2" charset="2"/>
              </a:rPr>
              <a:t></a:t>
            </a:r>
            <a:r>
              <a:rPr lang="en-US" sz="2800" dirty="0">
                <a:solidFill>
                  <a:srgbClr val="FF0000"/>
                </a:solidFill>
              </a:rPr>
              <a:t>  </a:t>
            </a:r>
            <a:r>
              <a:rPr lang="en-US" sz="2800" dirty="0"/>
              <a:t>,  5  ,  </a:t>
            </a:r>
            <a:r>
              <a:rPr lang="en-US" sz="2800" dirty="0">
                <a:solidFill>
                  <a:srgbClr val="FF0000"/>
                </a:solidFill>
              </a:rPr>
              <a:t>10 </a:t>
            </a:r>
            <a:r>
              <a:rPr lang="en-US" sz="2800" dirty="0"/>
              <a:t>,   2  ,   4   , 3  ]</a:t>
            </a:r>
          </a:p>
        </p:txBody>
      </p:sp>
    </p:spTree>
    <p:extLst>
      <p:ext uri="{BB962C8B-B14F-4D97-AF65-F5344CB8AC3E}">
        <p14:creationId xmlns:p14="http://schemas.microsoft.com/office/powerpoint/2010/main" val="4021344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FC96B6-52AD-D35A-F93B-7A15710FFE15}"/>
              </a:ext>
            </a:extLst>
          </p:cNvPr>
          <p:cNvSpPr txBox="1"/>
          <p:nvPr/>
        </p:nvSpPr>
        <p:spPr>
          <a:xfrm>
            <a:off x="48071" y="3019705"/>
            <a:ext cx="5729454" cy="523220"/>
          </a:xfrm>
          <a:prstGeom prst="rect">
            <a:avLst/>
          </a:prstGeom>
          <a:noFill/>
        </p:spPr>
        <p:txBody>
          <a:bodyPr wrap="none" rtlCol="0">
            <a:spAutoFit/>
          </a:bodyPr>
          <a:lstStyle/>
          <a:p>
            <a:r>
              <a:rPr lang="en-US" sz="2800" dirty="0"/>
              <a:t>Origin [  15  ,  5  ,10  ,  2  ,  4  ,  3  ]</a:t>
            </a:r>
          </a:p>
        </p:txBody>
      </p:sp>
      <p:sp>
        <p:nvSpPr>
          <p:cNvPr id="8" name="TextBox 7">
            <a:extLst>
              <a:ext uri="{FF2B5EF4-FFF2-40B4-BE49-F238E27FC236}">
                <a16:creationId xmlns:a16="http://schemas.microsoft.com/office/drawing/2014/main" id="{E542D10F-5A43-5085-352B-F7ECC32F5BA7}"/>
              </a:ext>
            </a:extLst>
          </p:cNvPr>
          <p:cNvSpPr txBox="1"/>
          <p:nvPr/>
        </p:nvSpPr>
        <p:spPr>
          <a:xfrm>
            <a:off x="6096000" y="3026224"/>
            <a:ext cx="5966698" cy="523220"/>
          </a:xfrm>
          <a:prstGeom prst="rect">
            <a:avLst/>
          </a:prstGeom>
          <a:noFill/>
        </p:spPr>
        <p:txBody>
          <a:bodyPr wrap="none" rtlCol="0">
            <a:spAutoFit/>
          </a:bodyPr>
          <a:lstStyle/>
          <a:p>
            <a:r>
              <a:rPr lang="en-US" sz="2800" dirty="0"/>
              <a:t>Max Extract [  3  ,  5  ,  10  ,  2  ,  4  ]</a:t>
            </a:r>
          </a:p>
        </p:txBody>
      </p:sp>
      <p:sp>
        <p:nvSpPr>
          <p:cNvPr id="10" name="TextBox 9">
            <a:extLst>
              <a:ext uri="{FF2B5EF4-FFF2-40B4-BE49-F238E27FC236}">
                <a16:creationId xmlns:a16="http://schemas.microsoft.com/office/drawing/2014/main" id="{410C4380-8189-EEE5-DD9E-571F32AEA854}"/>
              </a:ext>
            </a:extLst>
          </p:cNvPr>
          <p:cNvSpPr txBox="1"/>
          <p:nvPr/>
        </p:nvSpPr>
        <p:spPr>
          <a:xfrm>
            <a:off x="4848780" y="5499693"/>
            <a:ext cx="6151043" cy="523220"/>
          </a:xfrm>
          <a:prstGeom prst="rect">
            <a:avLst/>
          </a:prstGeom>
          <a:noFill/>
        </p:spPr>
        <p:txBody>
          <a:bodyPr wrap="none" rtlCol="0">
            <a:spAutoFit/>
          </a:bodyPr>
          <a:lstStyle/>
          <a:p>
            <a:r>
              <a:rPr lang="en-US" sz="2800" dirty="0" err="1"/>
              <a:t>Heapify</a:t>
            </a:r>
            <a:r>
              <a:rPr lang="en-US" sz="2800" dirty="0"/>
              <a:t> down[  10  ,  5  ,  3  ,  2  ,  4  ]</a:t>
            </a:r>
          </a:p>
        </p:txBody>
      </p:sp>
      <p:pic>
        <p:nvPicPr>
          <p:cNvPr id="12" name="Picture 11" descr="A diagram of a diagram&#10;&#10;AI-generated content may be incorrect.">
            <a:extLst>
              <a:ext uri="{FF2B5EF4-FFF2-40B4-BE49-F238E27FC236}">
                <a16:creationId xmlns:a16="http://schemas.microsoft.com/office/drawing/2014/main" id="{076B4D9C-D34C-A2BB-C898-4AB5CD5D6B56}"/>
              </a:ext>
            </a:extLst>
          </p:cNvPr>
          <p:cNvPicPr>
            <a:picLocks noChangeAspect="1"/>
          </p:cNvPicPr>
          <p:nvPr/>
        </p:nvPicPr>
        <p:blipFill>
          <a:blip r:embed="rId2"/>
          <a:stretch>
            <a:fillRect/>
          </a:stretch>
        </p:blipFill>
        <p:spPr>
          <a:xfrm>
            <a:off x="543631" y="238569"/>
            <a:ext cx="3035312" cy="2619181"/>
          </a:xfrm>
          <a:prstGeom prst="rect">
            <a:avLst/>
          </a:prstGeom>
        </p:spPr>
      </p:pic>
      <p:pic>
        <p:nvPicPr>
          <p:cNvPr id="14" name="Picture 13" descr="A diagram of a diagram&#10;&#10;AI-generated content may be incorrect.">
            <a:extLst>
              <a:ext uri="{FF2B5EF4-FFF2-40B4-BE49-F238E27FC236}">
                <a16:creationId xmlns:a16="http://schemas.microsoft.com/office/drawing/2014/main" id="{49E0E332-092C-A96F-04D8-011DDD70E4EA}"/>
              </a:ext>
            </a:extLst>
          </p:cNvPr>
          <p:cNvPicPr>
            <a:picLocks noChangeAspect="1"/>
          </p:cNvPicPr>
          <p:nvPr/>
        </p:nvPicPr>
        <p:blipFill>
          <a:blip r:embed="rId3"/>
          <a:stretch>
            <a:fillRect/>
          </a:stretch>
        </p:blipFill>
        <p:spPr>
          <a:xfrm>
            <a:off x="7367756" y="357567"/>
            <a:ext cx="2749311" cy="2662138"/>
          </a:xfrm>
          <a:prstGeom prst="rect">
            <a:avLst/>
          </a:prstGeom>
        </p:spPr>
      </p:pic>
      <p:pic>
        <p:nvPicPr>
          <p:cNvPr id="16" name="Picture 15" descr="A diagram of a diagram&#10;&#10;AI-generated content may be incorrect.">
            <a:extLst>
              <a:ext uri="{FF2B5EF4-FFF2-40B4-BE49-F238E27FC236}">
                <a16:creationId xmlns:a16="http://schemas.microsoft.com/office/drawing/2014/main" id="{57985147-AC8A-3483-151E-E4DD5FB2C8F9}"/>
              </a:ext>
            </a:extLst>
          </p:cNvPr>
          <p:cNvPicPr>
            <a:picLocks noChangeAspect="1"/>
          </p:cNvPicPr>
          <p:nvPr/>
        </p:nvPicPr>
        <p:blipFill>
          <a:blip r:embed="rId4"/>
          <a:stretch>
            <a:fillRect/>
          </a:stretch>
        </p:blipFill>
        <p:spPr>
          <a:xfrm>
            <a:off x="1557896" y="3704880"/>
            <a:ext cx="2709804" cy="2833639"/>
          </a:xfrm>
          <a:prstGeom prst="rect">
            <a:avLst/>
          </a:prstGeom>
        </p:spPr>
      </p:pic>
    </p:spTree>
    <p:extLst>
      <p:ext uri="{BB962C8B-B14F-4D97-AF65-F5344CB8AC3E}">
        <p14:creationId xmlns:p14="http://schemas.microsoft.com/office/powerpoint/2010/main" val="2687310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8E044695-9857-8C8A-A7DA-5ED778270BBD}"/>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28493113-6E57-6CA5-16B6-77E652D095FC}"/>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2" name="Title 1">
            <a:extLst>
              <a:ext uri="{FF2B5EF4-FFF2-40B4-BE49-F238E27FC236}">
                <a16:creationId xmlns:a16="http://schemas.microsoft.com/office/drawing/2014/main" id="{59677705-01AC-89FC-E800-29674569BC8C}"/>
              </a:ext>
            </a:extLst>
          </p:cNvPr>
          <p:cNvSpPr>
            <a:spLocks noGrp="1"/>
          </p:cNvSpPr>
          <p:nvPr>
            <p:ph type="title"/>
          </p:nvPr>
        </p:nvSpPr>
        <p:spPr>
          <a:xfrm>
            <a:off x="362481" y="1419629"/>
            <a:ext cx="11269080" cy="619483"/>
          </a:xfrm>
        </p:spPr>
        <p:txBody>
          <a:bodyPr>
            <a:normAutofit/>
          </a:bodyPr>
          <a:lstStyle/>
          <a:p>
            <a:r>
              <a:rPr lang="vi-VN" sz="2800" b="1" dirty="0">
                <a:latin typeface="+mj-lt"/>
              </a:rPr>
              <a:t>Thiết kế hệ thống &amp; mô phỏng hệ thống xếp lịch bệnh nhân cấp cứu</a:t>
            </a:r>
            <a:endParaRPr lang="en-US" sz="2800" b="1" dirty="0">
              <a:latin typeface="+mj-lt"/>
              <a:cs typeface="Times New Roman" panose="02020603050405020304" pitchFamily="18" charset="0"/>
            </a:endParaRPr>
          </a:p>
        </p:txBody>
      </p:sp>
      <p:sp>
        <p:nvSpPr>
          <p:cNvPr id="4" name="Date Placeholder 6">
            <a:extLst>
              <a:ext uri="{FF2B5EF4-FFF2-40B4-BE49-F238E27FC236}">
                <a16:creationId xmlns:a16="http://schemas.microsoft.com/office/drawing/2014/main" id="{3212CCF8-2A77-DEA0-4946-AE37EE850810}"/>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B02F9781-2CEF-5D84-B7B9-758451165BA5}"/>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9</a:t>
            </a:fld>
            <a:endParaRPr lang="en-US"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092ED9F-AC77-C5FE-CCD0-59F17658D0D6}"/>
              </a:ext>
            </a:extLst>
          </p:cNvPr>
          <p:cNvPicPr>
            <a:picLocks noChangeAspect="1"/>
          </p:cNvPicPr>
          <p:nvPr/>
        </p:nvPicPr>
        <p:blipFill>
          <a:blip r:embed="rId4"/>
          <a:stretch>
            <a:fillRect/>
          </a:stretch>
        </p:blipFill>
        <p:spPr>
          <a:xfrm>
            <a:off x="1298131" y="2390960"/>
            <a:ext cx="5426519" cy="4315401"/>
          </a:xfrm>
          <a:prstGeom prst="rect">
            <a:avLst/>
          </a:prstGeom>
        </p:spPr>
      </p:pic>
      <p:sp>
        <p:nvSpPr>
          <p:cNvPr id="8" name="TextBox 7">
            <a:extLst>
              <a:ext uri="{FF2B5EF4-FFF2-40B4-BE49-F238E27FC236}">
                <a16:creationId xmlns:a16="http://schemas.microsoft.com/office/drawing/2014/main" id="{3E543F93-8E61-D66C-7CF1-195F6A724A49}"/>
              </a:ext>
            </a:extLst>
          </p:cNvPr>
          <p:cNvSpPr txBox="1"/>
          <p:nvPr/>
        </p:nvSpPr>
        <p:spPr>
          <a:xfrm>
            <a:off x="457200" y="2049399"/>
            <a:ext cx="6157912" cy="369332"/>
          </a:xfrm>
          <a:prstGeom prst="rect">
            <a:avLst/>
          </a:prstGeom>
          <a:noFill/>
        </p:spPr>
        <p:txBody>
          <a:bodyPr wrap="square">
            <a:spAutoFit/>
          </a:bodyPr>
          <a:lstStyle/>
          <a:p>
            <a:r>
              <a:rPr lang="vi-VN" sz="1800" b="1" dirty="0">
                <a:latin typeface="+mj-lt"/>
              </a:rPr>
              <a:t>1. Kiến trúc tổng thể hệ thống</a:t>
            </a:r>
          </a:p>
        </p:txBody>
      </p:sp>
    </p:spTree>
    <p:extLst>
      <p:ext uri="{BB962C8B-B14F-4D97-AF65-F5344CB8AC3E}">
        <p14:creationId xmlns:p14="http://schemas.microsoft.com/office/powerpoint/2010/main" val="2773578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9D009D31-67FE-18DC-4972-3EE33FDACBA0}"/>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BC19BDC6-9C31-C4C6-C11A-B50989031E3F}"/>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2" name="Title 1">
            <a:extLst>
              <a:ext uri="{FF2B5EF4-FFF2-40B4-BE49-F238E27FC236}">
                <a16:creationId xmlns:a16="http://schemas.microsoft.com/office/drawing/2014/main" id="{BF763CA2-966B-8B64-A845-8139DB88E1AB}"/>
              </a:ext>
            </a:extLst>
          </p:cNvPr>
          <p:cNvSpPr>
            <a:spLocks noGrp="1"/>
          </p:cNvSpPr>
          <p:nvPr>
            <p:ph type="title"/>
          </p:nvPr>
        </p:nvSpPr>
        <p:spPr>
          <a:xfrm>
            <a:off x="362481" y="1419629"/>
            <a:ext cx="11269080" cy="619483"/>
          </a:xfrm>
        </p:spPr>
        <p:txBody>
          <a:bodyPr>
            <a:normAutofit/>
          </a:bodyPr>
          <a:lstStyle/>
          <a:p>
            <a:r>
              <a:rPr lang="vi-VN" sz="2800" b="1" dirty="0">
                <a:latin typeface="+mj-lt"/>
              </a:rPr>
              <a:t>Thiết kế hệ thống &amp; mô phỏng hệ thống xếp lịch bệnh nhân cấp cứu</a:t>
            </a:r>
            <a:endParaRPr lang="en-US" sz="2800" b="1" dirty="0">
              <a:latin typeface="+mj-lt"/>
              <a:cs typeface="Times New Roman" panose="02020603050405020304" pitchFamily="18" charset="0"/>
            </a:endParaRPr>
          </a:p>
        </p:txBody>
      </p:sp>
      <p:sp>
        <p:nvSpPr>
          <p:cNvPr id="4" name="Date Placeholder 6">
            <a:extLst>
              <a:ext uri="{FF2B5EF4-FFF2-40B4-BE49-F238E27FC236}">
                <a16:creationId xmlns:a16="http://schemas.microsoft.com/office/drawing/2014/main" id="{2023D2E3-D8CE-0D29-5207-D8A1C03550E5}"/>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36A135BF-D7DD-57FA-2BBC-1ABFDCC0A36D}"/>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10</a:t>
            </a:fld>
            <a:endParaRPr lang="en-US"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2AA10EA-1308-7F50-CEC5-918CF9436A05}"/>
              </a:ext>
            </a:extLst>
          </p:cNvPr>
          <p:cNvSpPr txBox="1"/>
          <p:nvPr/>
        </p:nvSpPr>
        <p:spPr>
          <a:xfrm>
            <a:off x="362481" y="2039112"/>
            <a:ext cx="11396703" cy="2308324"/>
          </a:xfrm>
          <a:prstGeom prst="rect">
            <a:avLst/>
          </a:prstGeom>
          <a:noFill/>
        </p:spPr>
        <p:txBody>
          <a:bodyPr wrap="square">
            <a:spAutoFit/>
          </a:bodyPr>
          <a:lstStyle/>
          <a:p>
            <a:pPr algn="just">
              <a:buNone/>
            </a:pPr>
            <a:r>
              <a:rPr lang="vi-VN" sz="1800" b="1" dirty="0">
                <a:latin typeface="+mj-lt"/>
              </a:rPr>
              <a:t>2. Cấu trúc dữ liệu node bệnh nhân</a:t>
            </a:r>
          </a:p>
          <a:p>
            <a:pPr marL="400050" lvl="3" algn="just"/>
            <a:r>
              <a:rPr lang="vi-VN" sz="1800" dirty="0">
                <a:latin typeface="+mj-lt"/>
              </a:rPr>
              <a:t>Mỗi </a:t>
            </a:r>
            <a:r>
              <a:rPr lang="vi-VN" sz="1800" b="1" dirty="0">
                <a:latin typeface="+mj-lt"/>
              </a:rPr>
              <a:t>node</a:t>
            </a:r>
            <a:r>
              <a:rPr lang="vi-VN" sz="1800" dirty="0">
                <a:latin typeface="+mj-lt"/>
              </a:rPr>
              <a:t> trong Heap sẽ chứa thông tin:</a:t>
            </a:r>
          </a:p>
          <a:p>
            <a:pPr marL="400050" lvl="2" algn="just">
              <a:buFont typeface="Arial" panose="020B0604020202020204" pitchFamily="34" charset="0"/>
              <a:buChar char="•"/>
            </a:pPr>
            <a:r>
              <a:rPr lang="vi-VN" sz="1800" b="1" dirty="0">
                <a:latin typeface="+mj-lt"/>
              </a:rPr>
              <a:t> Mã bệnh nhân (ID)</a:t>
            </a:r>
            <a:r>
              <a:rPr lang="vi-VN" sz="1800" dirty="0">
                <a:latin typeface="+mj-lt"/>
              </a:rPr>
              <a:t>: định danh duy nhất.</a:t>
            </a:r>
          </a:p>
          <a:p>
            <a:pPr marL="400050" lvl="2" algn="just">
              <a:buFont typeface="Arial" panose="020B0604020202020204" pitchFamily="34" charset="0"/>
              <a:buChar char="•"/>
            </a:pPr>
            <a:r>
              <a:rPr lang="vi-VN" sz="1800" b="1" dirty="0">
                <a:latin typeface="+mj-lt"/>
              </a:rPr>
              <a:t> Tên bệnh nhân</a:t>
            </a:r>
            <a:r>
              <a:rPr lang="vi-VN" sz="1800" dirty="0">
                <a:latin typeface="+mj-lt"/>
              </a:rPr>
              <a:t>: chuỗi ký tự.</a:t>
            </a:r>
          </a:p>
          <a:p>
            <a:pPr marL="400050" lvl="2" algn="just">
              <a:buFont typeface="Arial" panose="020B0604020202020204" pitchFamily="34" charset="0"/>
              <a:buChar char="•"/>
            </a:pPr>
            <a:r>
              <a:rPr lang="vi-VN" sz="1800" b="1" dirty="0">
                <a:latin typeface="+mj-lt"/>
              </a:rPr>
              <a:t> Thời điểm nhập viện</a:t>
            </a:r>
            <a:r>
              <a:rPr lang="vi-VN" sz="1800" dirty="0">
                <a:latin typeface="+mj-lt"/>
              </a:rPr>
              <a:t>: timestamp (giờ/phút).</a:t>
            </a:r>
          </a:p>
          <a:p>
            <a:pPr marL="400050" lvl="2" algn="just">
              <a:buFont typeface="Arial" panose="020B0604020202020204" pitchFamily="34" charset="0"/>
              <a:buChar char="•"/>
            </a:pPr>
            <a:r>
              <a:rPr lang="vi-VN" sz="1800" b="1" dirty="0">
                <a:latin typeface="+mj-lt"/>
              </a:rPr>
              <a:t> Mức độ nguy kịch (Level 1–10)</a:t>
            </a:r>
            <a:r>
              <a:rPr lang="vi-VN" sz="1800" dirty="0">
                <a:latin typeface="+mj-lt"/>
              </a:rPr>
              <a:t>: số nguyên, càng lớn càng nguy kịch.</a:t>
            </a:r>
          </a:p>
          <a:p>
            <a:pPr marL="400050" lvl="2" algn="just"/>
            <a:r>
              <a:rPr lang="vi-VN" sz="1800" b="1" dirty="0">
                <a:latin typeface="+mj-lt"/>
              </a:rPr>
              <a:t>Khóa ưu tiên</a:t>
            </a:r>
            <a:r>
              <a:rPr lang="vi-VN" sz="1800" dirty="0">
                <a:latin typeface="+mj-lt"/>
              </a:rPr>
              <a:t> chính là </a:t>
            </a:r>
            <a:r>
              <a:rPr lang="vi-VN" sz="1800" b="1" dirty="0">
                <a:latin typeface="+mj-lt"/>
              </a:rPr>
              <a:t>Level</a:t>
            </a:r>
            <a:r>
              <a:rPr lang="vi-VN" sz="1800" dirty="0">
                <a:latin typeface="+mj-lt"/>
              </a:rPr>
              <a:t>. Nếu nhiều bệnh nhân cùng Level, có thể tie-break bằng </a:t>
            </a:r>
            <a:r>
              <a:rPr lang="vi-VN" sz="1800" b="1" dirty="0">
                <a:latin typeface="+mj-lt"/>
              </a:rPr>
              <a:t>thời điểm nhập viện</a:t>
            </a:r>
            <a:r>
              <a:rPr lang="vi-VN" sz="1800" dirty="0">
                <a:latin typeface="+mj-lt"/>
              </a:rPr>
              <a:t> (ai đến sớm hơn ưu tiên trước).</a:t>
            </a:r>
          </a:p>
        </p:txBody>
      </p:sp>
    </p:spTree>
    <p:extLst>
      <p:ext uri="{BB962C8B-B14F-4D97-AF65-F5344CB8AC3E}">
        <p14:creationId xmlns:p14="http://schemas.microsoft.com/office/powerpoint/2010/main" val="1953578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EE6BE1E1-2641-12B5-692E-5C46354C8FE5}"/>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237495E8-80FD-44EE-C434-9698B499ADA6}"/>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2" name="Title 1">
            <a:extLst>
              <a:ext uri="{FF2B5EF4-FFF2-40B4-BE49-F238E27FC236}">
                <a16:creationId xmlns:a16="http://schemas.microsoft.com/office/drawing/2014/main" id="{0D6AECF9-D034-74C3-D57E-EADC9304C861}"/>
              </a:ext>
            </a:extLst>
          </p:cNvPr>
          <p:cNvSpPr>
            <a:spLocks noGrp="1"/>
          </p:cNvSpPr>
          <p:nvPr>
            <p:ph type="title"/>
          </p:nvPr>
        </p:nvSpPr>
        <p:spPr>
          <a:xfrm>
            <a:off x="362481" y="1419629"/>
            <a:ext cx="11269080" cy="619483"/>
          </a:xfrm>
        </p:spPr>
        <p:txBody>
          <a:bodyPr>
            <a:normAutofit/>
          </a:bodyPr>
          <a:lstStyle/>
          <a:p>
            <a:r>
              <a:rPr lang="vi-VN" sz="2800" b="1" dirty="0">
                <a:latin typeface="+mj-lt"/>
              </a:rPr>
              <a:t>Thiết kế hệ thống &amp; mô phỏng hệ thống xếp lịch bệnh nhân cấp cứu</a:t>
            </a:r>
            <a:endParaRPr lang="en-US" sz="2800" b="1" dirty="0">
              <a:latin typeface="+mj-lt"/>
              <a:cs typeface="Times New Roman" panose="02020603050405020304" pitchFamily="18" charset="0"/>
            </a:endParaRPr>
          </a:p>
        </p:txBody>
      </p:sp>
      <p:sp>
        <p:nvSpPr>
          <p:cNvPr id="4" name="Date Placeholder 6">
            <a:extLst>
              <a:ext uri="{FF2B5EF4-FFF2-40B4-BE49-F238E27FC236}">
                <a16:creationId xmlns:a16="http://schemas.microsoft.com/office/drawing/2014/main" id="{07387F0D-B985-4200-DC88-D465D42268FC}"/>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EB495C54-D8D0-4D16-DFB7-FA150B99A44B}"/>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11</a:t>
            </a:fld>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A576E32-7296-50D9-E76F-8F37E1BC6F15}"/>
                  </a:ext>
                </a:extLst>
              </p:cNvPr>
              <p:cNvSpPr txBox="1"/>
              <p:nvPr/>
            </p:nvSpPr>
            <p:spPr>
              <a:xfrm>
                <a:off x="362481" y="2039112"/>
                <a:ext cx="11396703" cy="3970318"/>
              </a:xfrm>
              <a:prstGeom prst="rect">
                <a:avLst/>
              </a:prstGeom>
              <a:noFill/>
            </p:spPr>
            <p:txBody>
              <a:bodyPr wrap="square">
                <a:spAutoFit/>
              </a:bodyPr>
              <a:lstStyle/>
              <a:p>
                <a:r>
                  <a:rPr lang="vi-VN" sz="1800" b="1" dirty="0">
                    <a:latin typeface="+mj-lt"/>
                  </a:rPr>
                  <a:t>3. Các thao tác trên Heap</a:t>
                </a:r>
              </a:p>
              <a:p>
                <a:pPr marL="228600"/>
                <a:r>
                  <a:rPr lang="vi-VN" sz="1800" b="1" dirty="0">
                    <a:latin typeface="+mj-lt"/>
                  </a:rPr>
                  <a:t>a. Thêm bệnh nhân (Insert)</a:t>
                </a:r>
              </a:p>
              <a:p>
                <a:pPr marL="228600" indent="285750"/>
                <a:r>
                  <a:rPr lang="vi-VN" sz="1800" dirty="0">
                    <a:latin typeface="+mj-lt"/>
                  </a:rPr>
                  <a:t>Đưa node mới vào cuối mảng Heap.</a:t>
                </a:r>
              </a:p>
              <a:p>
                <a:pPr marL="228600" indent="285750"/>
                <a:r>
                  <a:rPr lang="vi-VN" sz="1800" dirty="0">
                    <a:latin typeface="+mj-lt"/>
                  </a:rPr>
                  <a:t>Thực hiện </a:t>
                </a:r>
                <a:r>
                  <a:rPr lang="vi-VN" sz="1800" b="1" dirty="0">
                    <a:latin typeface="+mj-lt"/>
                  </a:rPr>
                  <a:t>sift up</a:t>
                </a:r>
                <a:r>
                  <a:rPr lang="vi-VN" sz="1800" dirty="0">
                    <a:latin typeface="+mj-lt"/>
                  </a:rPr>
                  <a:t> để duy trì tính chất Max Heap.</a:t>
                </a:r>
              </a:p>
              <a:p>
                <a:pPr marL="228600" indent="285750"/>
                <a:r>
                  <a:rPr lang="vi-VN" sz="1800" dirty="0">
                    <a:latin typeface="+mj-lt"/>
                  </a:rPr>
                  <a:t>Độ phức tạp: </a:t>
                </a:r>
                <a14:m>
                  <m:oMath xmlns:m="http://schemas.openxmlformats.org/officeDocument/2006/math">
                    <m:r>
                      <a:rPr lang="vi-VN" sz="1800" i="1">
                        <a:latin typeface="Cambria Math" panose="02040503050406030204" pitchFamily="18" charset="0"/>
                      </a:rPr>
                      <m:t>𝑂</m:t>
                    </m:r>
                    <m:d>
                      <m:dPr>
                        <m:ctrlPr>
                          <a:rPr lang="ar-AE" sz="1800" i="1">
                            <a:latin typeface="Cambria Math" panose="02040503050406030204" pitchFamily="18" charset="0"/>
                          </a:rPr>
                        </m:ctrlPr>
                      </m:dPr>
                      <m:e>
                        <m:func>
                          <m:funcPr>
                            <m:ctrlPr>
                              <a:rPr lang="ar-AE" sz="1800" i="1">
                                <a:latin typeface="Cambria Math" panose="02040503050406030204" pitchFamily="18" charset="0"/>
                              </a:rPr>
                            </m:ctrlPr>
                          </m:funcPr>
                          <m:fName>
                            <m:r>
                              <m:rPr>
                                <m:sty m:val="p"/>
                              </m:rPr>
                              <a:rPr lang="vi-VN" sz="1800">
                                <a:latin typeface="Cambria Math" panose="02040503050406030204" pitchFamily="18" charset="0"/>
                              </a:rPr>
                              <m:t>log</m:t>
                            </m:r>
                          </m:fName>
                          <m:e>
                            <m:r>
                              <a:rPr lang="ar-AE" sz="1800" i="1">
                                <a:latin typeface="Cambria Math" panose="02040503050406030204" pitchFamily="18" charset="0"/>
                              </a:rPr>
                              <m:t>𝑛</m:t>
                            </m:r>
                          </m:e>
                        </m:func>
                      </m:e>
                    </m:d>
                  </m:oMath>
                </a14:m>
                <a:r>
                  <a:rPr lang="ar-AE" sz="1800" dirty="0">
                    <a:latin typeface="+mj-lt"/>
                  </a:rPr>
                  <a:t>.</a:t>
                </a:r>
              </a:p>
              <a:p>
                <a:pPr marL="228600"/>
                <a:r>
                  <a:rPr lang="vi-VN" sz="1800" b="1" dirty="0">
                    <a:latin typeface="+mj-lt"/>
                  </a:rPr>
                  <a:t>b. Xử lý bệnh nhân khẩn cấp nhất (Extract-Max)</a:t>
                </a:r>
              </a:p>
              <a:p>
                <a:pPr marL="228600" indent="285750"/>
                <a:r>
                  <a:rPr lang="vi-VN" sz="1800" dirty="0">
                    <a:latin typeface="+mj-lt"/>
                  </a:rPr>
                  <a:t>Lấy node gốc (có Level cao nhất).</a:t>
                </a:r>
              </a:p>
              <a:p>
                <a:pPr marL="228600" indent="285750"/>
                <a:r>
                  <a:rPr lang="vi-VN" sz="1800" dirty="0">
                    <a:latin typeface="+mj-lt"/>
                  </a:rPr>
                  <a:t>Đưa node cuối lên gốc, sau đó heapify xuống.</a:t>
                </a:r>
              </a:p>
              <a:p>
                <a:pPr marL="228600" indent="285750"/>
                <a:r>
                  <a:rPr lang="vi-VN" sz="1800" dirty="0">
                    <a:latin typeface="+mj-lt"/>
                  </a:rPr>
                  <a:t>Độ phức tạp: </a:t>
                </a:r>
                <a14:m>
                  <m:oMath xmlns:m="http://schemas.openxmlformats.org/officeDocument/2006/math">
                    <m:r>
                      <a:rPr lang="vi-VN" sz="1800">
                        <a:latin typeface="Cambria Math" panose="02040503050406030204" pitchFamily="18" charset="0"/>
                      </a:rPr>
                      <m:t>𝑂</m:t>
                    </m:r>
                    <m:d>
                      <m:dPr>
                        <m:ctrlPr>
                          <a:rPr lang="ar-AE" sz="1800" i="1">
                            <a:latin typeface="Cambria Math" panose="02040503050406030204" pitchFamily="18" charset="0"/>
                          </a:rPr>
                        </m:ctrlPr>
                      </m:dPr>
                      <m:e>
                        <m:func>
                          <m:funcPr>
                            <m:ctrlPr>
                              <a:rPr lang="ar-AE" sz="1800" i="1">
                                <a:latin typeface="Cambria Math" panose="02040503050406030204" pitchFamily="18" charset="0"/>
                              </a:rPr>
                            </m:ctrlPr>
                          </m:funcPr>
                          <m:fName>
                            <m:r>
                              <m:rPr>
                                <m:sty m:val="p"/>
                              </m:rPr>
                              <a:rPr lang="vi-VN" sz="1800">
                                <a:latin typeface="Cambria Math" panose="02040503050406030204" pitchFamily="18" charset="0"/>
                              </a:rPr>
                              <m:t>log</m:t>
                            </m:r>
                          </m:fName>
                          <m:e>
                            <m:r>
                              <a:rPr lang="ar-AE" sz="1800">
                                <a:latin typeface="Cambria Math" panose="02040503050406030204" pitchFamily="18" charset="0"/>
                              </a:rPr>
                              <m:t>𝑛</m:t>
                            </m:r>
                          </m:e>
                        </m:func>
                      </m:e>
                    </m:d>
                  </m:oMath>
                </a14:m>
                <a:r>
                  <a:rPr lang="ar-AE" sz="1800" dirty="0">
                    <a:latin typeface="+mj-lt"/>
                  </a:rPr>
                  <a:t>.</a:t>
                </a:r>
              </a:p>
              <a:p>
                <a:pPr marL="228600"/>
                <a:r>
                  <a:rPr lang="vi-VN" sz="1800" b="1" dirty="0">
                    <a:latin typeface="+mj-lt"/>
                  </a:rPr>
                  <a:t>c. Hiển thị cấu trúc dữ liệu (dạng cây)</a:t>
                </a:r>
              </a:p>
              <a:p>
                <a:pPr marL="228600" indent="285750"/>
                <a:r>
                  <a:rPr lang="vi-VN" sz="1800" dirty="0">
                    <a:latin typeface="+mj-lt"/>
                  </a:rPr>
                  <a:t>Heap được lưu bằng mảng, nhưng có thể hiển thị dạng cây nhị phân:</a:t>
                </a:r>
              </a:p>
              <a:p>
                <a:pPr marL="228600" lvl="1" indent="285750"/>
                <a:r>
                  <a:rPr lang="vi-VN" sz="1800" dirty="0">
                    <a:latin typeface="+mj-lt"/>
                  </a:rPr>
                  <a:t>Node cha ở vị trí </a:t>
                </a:r>
                <a14:m>
                  <m:oMath xmlns:m="http://schemas.openxmlformats.org/officeDocument/2006/math">
                    <m:r>
                      <a:rPr lang="vi-VN" sz="1800">
                        <a:latin typeface="Cambria Math" panose="02040503050406030204" pitchFamily="18" charset="0"/>
                      </a:rPr>
                      <m:t>𝑖</m:t>
                    </m:r>
                  </m:oMath>
                </a14:m>
                <a:r>
                  <a:rPr lang="vi-VN" sz="1800" dirty="0">
                    <a:latin typeface="+mj-lt"/>
                  </a:rPr>
                  <a:t>.</a:t>
                </a:r>
              </a:p>
              <a:p>
                <a:pPr marL="228600" lvl="1" indent="285750"/>
                <a:r>
                  <a:rPr lang="vi-VN" sz="1800" dirty="0">
                    <a:latin typeface="+mj-lt"/>
                  </a:rPr>
                  <a:t>Con trái ở </a:t>
                </a:r>
                <a14:m>
                  <m:oMath xmlns:m="http://schemas.openxmlformats.org/officeDocument/2006/math">
                    <m:r>
                      <a:rPr lang="vi-VN" sz="1800">
                        <a:latin typeface="Cambria Math" panose="02040503050406030204" pitchFamily="18" charset="0"/>
                      </a:rPr>
                      <m:t>2</m:t>
                    </m:r>
                    <m:r>
                      <a:rPr lang="vi-VN" sz="1800">
                        <a:latin typeface="Cambria Math" panose="02040503050406030204" pitchFamily="18" charset="0"/>
                      </a:rPr>
                      <m:t>𝑖</m:t>
                    </m:r>
                  </m:oMath>
                </a14:m>
                <a:r>
                  <a:rPr lang="vi-VN" sz="1800" dirty="0">
                    <a:latin typeface="+mj-lt"/>
                  </a:rPr>
                  <a:t>, con phải ở </a:t>
                </a:r>
                <a14:m>
                  <m:oMath xmlns:m="http://schemas.openxmlformats.org/officeDocument/2006/math">
                    <m:r>
                      <a:rPr lang="vi-VN" sz="1800">
                        <a:latin typeface="Cambria Math" panose="02040503050406030204" pitchFamily="18" charset="0"/>
                      </a:rPr>
                      <m:t>2</m:t>
                    </m:r>
                    <m:r>
                      <a:rPr lang="vi-VN" sz="1800">
                        <a:latin typeface="Cambria Math" panose="02040503050406030204" pitchFamily="18" charset="0"/>
                      </a:rPr>
                      <m:t>𝑖</m:t>
                    </m:r>
                    <m:r>
                      <a:rPr lang="vi-VN" sz="1800">
                        <a:latin typeface="Cambria Math" panose="02040503050406030204" pitchFamily="18" charset="0"/>
                      </a:rPr>
                      <m:t>+</m:t>
                    </m:r>
                    <m:r>
                      <a:rPr lang="vi-VN" sz="1800">
                        <a:latin typeface="Cambria Math" panose="02040503050406030204" pitchFamily="18" charset="0"/>
                      </a:rPr>
                      <m:t>1</m:t>
                    </m:r>
                  </m:oMath>
                </a14:m>
                <a:r>
                  <a:rPr lang="vi-VN" sz="1800" dirty="0">
                    <a:latin typeface="+mj-lt"/>
                  </a:rPr>
                  <a:t>.</a:t>
                </a:r>
              </a:p>
              <a:p>
                <a:pPr marL="228600" indent="285750"/>
                <a:r>
                  <a:rPr lang="vi-VN" sz="1800" dirty="0">
                    <a:latin typeface="+mj-lt"/>
                  </a:rPr>
                  <a:t>Có thể in ra cây bằng duyệt BFS hoặc in theo cấp.</a:t>
                </a:r>
              </a:p>
            </p:txBody>
          </p:sp>
        </mc:Choice>
        <mc:Fallback xmlns="">
          <p:sp>
            <p:nvSpPr>
              <p:cNvPr id="7" name="TextBox 6">
                <a:extLst>
                  <a:ext uri="{FF2B5EF4-FFF2-40B4-BE49-F238E27FC236}">
                    <a16:creationId xmlns:a16="http://schemas.microsoft.com/office/drawing/2014/main" id="{7A576E32-7296-50D9-E76F-8F37E1BC6F15}"/>
                  </a:ext>
                </a:extLst>
              </p:cNvPr>
              <p:cNvSpPr txBox="1">
                <a:spLocks noRot="1" noChangeAspect="1" noMove="1" noResize="1" noEditPoints="1" noAdjustHandles="1" noChangeArrowheads="1" noChangeShapeType="1" noTextEdit="1"/>
              </p:cNvSpPr>
              <p:nvPr/>
            </p:nvSpPr>
            <p:spPr>
              <a:xfrm>
                <a:off x="362481" y="2039112"/>
                <a:ext cx="11396703" cy="3970318"/>
              </a:xfrm>
              <a:prstGeom prst="rect">
                <a:avLst/>
              </a:prstGeom>
              <a:blipFill>
                <a:blip r:embed="rId4"/>
                <a:stretch>
                  <a:fillRect l="-428" t="-922" b="-1382"/>
                </a:stretch>
              </a:blipFill>
            </p:spPr>
            <p:txBody>
              <a:bodyPr/>
              <a:lstStyle/>
              <a:p>
                <a:r>
                  <a:rPr lang="vi-VN">
                    <a:noFill/>
                  </a:rPr>
                  <a:t> </a:t>
                </a:r>
              </a:p>
            </p:txBody>
          </p:sp>
        </mc:Fallback>
      </mc:AlternateContent>
    </p:spTree>
    <p:extLst>
      <p:ext uri="{BB962C8B-B14F-4D97-AF65-F5344CB8AC3E}">
        <p14:creationId xmlns:p14="http://schemas.microsoft.com/office/powerpoint/2010/main" val="4278689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6DEAF9B7-8726-F235-5E25-607681A2E93F}"/>
              </a:ext>
            </a:extLst>
          </p:cNvPr>
          <p:cNvGrpSpPr/>
          <p:nvPr/>
        </p:nvGrpSpPr>
        <p:grpSpPr>
          <a:xfrm>
            <a:off x="137160" y="30682"/>
            <a:ext cx="12192000" cy="2514600"/>
            <a:chOff x="-4762" y="0"/>
            <a:chExt cx="12196762" cy="3429000"/>
          </a:xfrm>
        </p:grpSpPr>
        <p:pic>
          <p:nvPicPr>
            <p:cNvPr id="4" name="Picture 3">
              <a:extLst>
                <a:ext uri="{FF2B5EF4-FFF2-40B4-BE49-F238E27FC236}">
                  <a16:creationId xmlns:a16="http://schemas.microsoft.com/office/drawing/2014/main" id="{AA651A20-C36C-5BB0-9FAE-C94C1A77A93A}"/>
                </a:ext>
              </a:extLst>
            </p:cNvPr>
            <p:cNvPicPr>
              <a:picLocks noChangeAspect="1"/>
            </p:cNvPicPr>
            <p:nvPr/>
          </p:nvPicPr>
          <p:blipFill>
            <a:blip r:embed="rId3"/>
            <a:stretch>
              <a:fillRect/>
            </a:stretch>
          </p:blipFill>
          <p:spPr>
            <a:xfrm>
              <a:off x="0" y="1"/>
              <a:ext cx="3869696" cy="2429214"/>
            </a:xfrm>
            <a:prstGeom prst="rect">
              <a:avLst/>
            </a:prstGeom>
          </p:spPr>
        </p:pic>
        <p:grpSp>
          <p:nvGrpSpPr>
            <p:cNvPr id="9" name="Group 8">
              <a:extLst>
                <a:ext uri="{FF2B5EF4-FFF2-40B4-BE49-F238E27FC236}">
                  <a16:creationId xmlns:a16="http://schemas.microsoft.com/office/drawing/2014/main" id="{1629FCE4-C26C-CE6C-6693-636E3E5C7B41}"/>
                </a:ext>
              </a:extLst>
            </p:cNvPr>
            <p:cNvGrpSpPr/>
            <p:nvPr/>
          </p:nvGrpSpPr>
          <p:grpSpPr>
            <a:xfrm>
              <a:off x="4372277" y="0"/>
              <a:ext cx="3447446" cy="2429214"/>
              <a:chOff x="5638241" y="747563"/>
              <a:chExt cx="3715268" cy="2429214"/>
            </a:xfrm>
          </p:grpSpPr>
          <p:pic>
            <p:nvPicPr>
              <p:cNvPr id="6" name="Picture 5">
                <a:extLst>
                  <a:ext uri="{FF2B5EF4-FFF2-40B4-BE49-F238E27FC236}">
                    <a16:creationId xmlns:a16="http://schemas.microsoft.com/office/drawing/2014/main" id="{D089FC7A-E00A-B770-5C1C-EB6B69855A97}"/>
                  </a:ext>
                </a:extLst>
              </p:cNvPr>
              <p:cNvPicPr>
                <a:picLocks noChangeAspect="1"/>
              </p:cNvPicPr>
              <p:nvPr/>
            </p:nvPicPr>
            <p:blipFill>
              <a:blip r:embed="rId4"/>
              <a:stretch>
                <a:fillRect/>
              </a:stretch>
            </p:blipFill>
            <p:spPr>
              <a:xfrm>
                <a:off x="5638241" y="747563"/>
                <a:ext cx="3715268" cy="2429214"/>
              </a:xfrm>
              <a:prstGeom prst="rect">
                <a:avLst/>
              </a:prstGeom>
            </p:spPr>
          </p:pic>
          <p:sp>
            <p:nvSpPr>
              <p:cNvPr id="8" name="TextBox 7">
                <a:extLst>
                  <a:ext uri="{FF2B5EF4-FFF2-40B4-BE49-F238E27FC236}">
                    <a16:creationId xmlns:a16="http://schemas.microsoft.com/office/drawing/2014/main" id="{659971C6-99F0-9C15-3081-3C2666179FB8}"/>
                  </a:ext>
                </a:extLst>
              </p:cNvPr>
              <p:cNvSpPr txBox="1"/>
              <p:nvPr/>
            </p:nvSpPr>
            <p:spPr>
              <a:xfrm>
                <a:off x="5761421" y="1408212"/>
                <a:ext cx="810184" cy="307777"/>
              </a:xfrm>
              <a:prstGeom prst="rect">
                <a:avLst/>
              </a:prstGeom>
              <a:solidFill>
                <a:srgbClr val="FFFF00"/>
              </a:solidFill>
              <a:ln>
                <a:solidFill>
                  <a:schemeClr val="accent1"/>
                </a:solidFill>
              </a:ln>
            </p:spPr>
            <p:txBody>
              <a:bodyPr wrap="square">
                <a:spAutoFit/>
              </a:bodyPr>
              <a:lstStyle/>
              <a:p>
                <a:r>
                  <a:rPr lang="vi-VN" dirty="0">
                    <a:latin typeface="+mj-lt"/>
                  </a:rPr>
                  <a:t>sift-up</a:t>
                </a:r>
              </a:p>
            </p:txBody>
          </p:sp>
        </p:grpSp>
        <p:sp>
          <p:nvSpPr>
            <p:cNvPr id="10" name="Arrow: Right 9">
              <a:extLst>
                <a:ext uri="{FF2B5EF4-FFF2-40B4-BE49-F238E27FC236}">
                  <a16:creationId xmlns:a16="http://schemas.microsoft.com/office/drawing/2014/main" id="{B1C72B54-4D14-5E26-1BF6-50BBDD4BD276}"/>
                </a:ext>
              </a:extLst>
            </p:cNvPr>
            <p:cNvSpPr/>
            <p:nvPr/>
          </p:nvSpPr>
          <p:spPr>
            <a:xfrm>
              <a:off x="3676650" y="1571625"/>
              <a:ext cx="581025" cy="285750"/>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vi-VN">
                <a:latin typeface="+mj-lt"/>
              </a:endParaRPr>
            </a:p>
          </p:txBody>
        </p:sp>
        <p:sp>
          <p:nvSpPr>
            <p:cNvPr id="11" name="TextBox 10">
              <a:extLst>
                <a:ext uri="{FF2B5EF4-FFF2-40B4-BE49-F238E27FC236}">
                  <a16:creationId xmlns:a16="http://schemas.microsoft.com/office/drawing/2014/main" id="{F2982359-7A5D-22DE-A590-960C60D54667}"/>
                </a:ext>
              </a:extLst>
            </p:cNvPr>
            <p:cNvSpPr txBox="1"/>
            <p:nvPr/>
          </p:nvSpPr>
          <p:spPr>
            <a:xfrm>
              <a:off x="57150" y="1609725"/>
              <a:ext cx="751780" cy="307777"/>
            </a:xfrm>
            <a:prstGeom prst="rect">
              <a:avLst/>
            </a:prstGeom>
            <a:solidFill>
              <a:srgbClr val="FFFF00"/>
            </a:solidFill>
            <a:ln>
              <a:solidFill>
                <a:schemeClr val="accent1"/>
              </a:solidFill>
            </a:ln>
          </p:spPr>
          <p:txBody>
            <a:bodyPr wrap="square">
              <a:spAutoFit/>
            </a:bodyPr>
            <a:lstStyle/>
            <a:p>
              <a:r>
                <a:rPr lang="vi-VN" dirty="0">
                  <a:latin typeface="+mj-lt"/>
                </a:rPr>
                <a:t>Insert</a:t>
              </a:r>
            </a:p>
          </p:txBody>
        </p:sp>
        <p:pic>
          <p:nvPicPr>
            <p:cNvPr id="13" name="Picture 12">
              <a:extLst>
                <a:ext uri="{FF2B5EF4-FFF2-40B4-BE49-F238E27FC236}">
                  <a16:creationId xmlns:a16="http://schemas.microsoft.com/office/drawing/2014/main" id="{6B10AD69-5B12-3327-FAC7-32A783FE3AEB}"/>
                </a:ext>
              </a:extLst>
            </p:cNvPr>
            <p:cNvPicPr>
              <a:picLocks noChangeAspect="1"/>
            </p:cNvPicPr>
            <p:nvPr/>
          </p:nvPicPr>
          <p:blipFill>
            <a:blip r:embed="rId5"/>
            <a:stretch>
              <a:fillRect/>
            </a:stretch>
          </p:blipFill>
          <p:spPr>
            <a:xfrm>
              <a:off x="8322304" y="0"/>
              <a:ext cx="3610479" cy="1505160"/>
            </a:xfrm>
            <a:prstGeom prst="rect">
              <a:avLst/>
            </a:prstGeom>
          </p:spPr>
        </p:pic>
        <p:sp>
          <p:nvSpPr>
            <p:cNvPr id="14" name="Arrow: Right 13">
              <a:extLst>
                <a:ext uri="{FF2B5EF4-FFF2-40B4-BE49-F238E27FC236}">
                  <a16:creationId xmlns:a16="http://schemas.microsoft.com/office/drawing/2014/main" id="{F3B63190-E454-6C00-136B-7FDCEE0D4632}"/>
                </a:ext>
              </a:extLst>
            </p:cNvPr>
            <p:cNvSpPr/>
            <p:nvPr/>
          </p:nvSpPr>
          <p:spPr>
            <a:xfrm>
              <a:off x="7780501" y="1571625"/>
              <a:ext cx="581025" cy="285750"/>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vi-VN">
                <a:latin typeface="+mj-lt"/>
              </a:endParaRPr>
            </a:p>
          </p:txBody>
        </p:sp>
        <p:sp>
          <p:nvSpPr>
            <p:cNvPr id="15" name="TextBox 14">
              <a:extLst>
                <a:ext uri="{FF2B5EF4-FFF2-40B4-BE49-F238E27FC236}">
                  <a16:creationId xmlns:a16="http://schemas.microsoft.com/office/drawing/2014/main" id="{7FEB741F-B14D-40D4-AD9D-465B7F137C5B}"/>
                </a:ext>
              </a:extLst>
            </p:cNvPr>
            <p:cNvSpPr txBox="1"/>
            <p:nvPr/>
          </p:nvSpPr>
          <p:spPr>
            <a:xfrm>
              <a:off x="11052292" y="0"/>
              <a:ext cx="1139708" cy="307777"/>
            </a:xfrm>
            <a:prstGeom prst="rect">
              <a:avLst/>
            </a:prstGeom>
            <a:solidFill>
              <a:srgbClr val="FFFF00"/>
            </a:solidFill>
            <a:ln>
              <a:solidFill>
                <a:schemeClr val="accent1"/>
              </a:solidFill>
            </a:ln>
          </p:spPr>
          <p:txBody>
            <a:bodyPr wrap="square">
              <a:spAutoFit/>
            </a:bodyPr>
            <a:lstStyle/>
            <a:p>
              <a:r>
                <a:rPr lang="vi-VN" dirty="0">
                  <a:latin typeface="+mj-lt"/>
                </a:rPr>
                <a:t>Extract-Max</a:t>
              </a:r>
            </a:p>
          </p:txBody>
        </p:sp>
        <p:sp>
          <p:nvSpPr>
            <p:cNvPr id="17" name="TextBox 16">
              <a:extLst>
                <a:ext uri="{FF2B5EF4-FFF2-40B4-BE49-F238E27FC236}">
                  <a16:creationId xmlns:a16="http://schemas.microsoft.com/office/drawing/2014/main" id="{D018C39F-FB21-8D19-C642-E6BA7582DC63}"/>
                </a:ext>
              </a:extLst>
            </p:cNvPr>
            <p:cNvSpPr txBox="1"/>
            <p:nvPr/>
          </p:nvSpPr>
          <p:spPr>
            <a:xfrm>
              <a:off x="8361526" y="1609725"/>
              <a:ext cx="3830474" cy="954107"/>
            </a:xfrm>
            <a:prstGeom prst="rect">
              <a:avLst/>
            </a:prstGeom>
            <a:noFill/>
          </p:spPr>
          <p:txBody>
            <a:bodyPr wrap="square">
              <a:spAutoFit/>
            </a:bodyPr>
            <a:lstStyle/>
            <a:p>
              <a:r>
                <a:rPr lang="vi-VN" dirty="0">
                  <a:latin typeface="+mj-lt"/>
                </a:rPr>
                <a:t>Sau khi Extract-Max:</a:t>
              </a:r>
            </a:p>
            <a:p>
              <a:r>
                <a:rPr lang="vi-VN" dirty="0">
                  <a:latin typeface="+mj-lt"/>
                </a:rPr>
                <a:t>BN003 bị loại khỏi Heap.</a:t>
              </a:r>
            </a:p>
            <a:p>
              <a:r>
                <a:rPr lang="vi-VN" dirty="0">
                  <a:latin typeface="+mj-lt"/>
                </a:rPr>
                <a:t>Node cuối (BN002 - Level 7) được đưa lên gốc.</a:t>
              </a:r>
            </a:p>
            <a:p>
              <a:r>
                <a:rPr lang="vi-VN" dirty="0">
                  <a:latin typeface="+mj-lt"/>
                </a:rPr>
                <a:t>Thực hiện heapify xuống để tái cân bằng.</a:t>
              </a:r>
            </a:p>
          </p:txBody>
        </p:sp>
        <p:sp>
          <p:nvSpPr>
            <p:cNvPr id="19" name="TextBox 18">
              <a:extLst>
                <a:ext uri="{FF2B5EF4-FFF2-40B4-BE49-F238E27FC236}">
                  <a16:creationId xmlns:a16="http://schemas.microsoft.com/office/drawing/2014/main" id="{DE7B1B7B-ECCF-5F5D-D72F-517367F53FB6}"/>
                </a:ext>
              </a:extLst>
            </p:cNvPr>
            <p:cNvSpPr txBox="1"/>
            <p:nvPr/>
          </p:nvSpPr>
          <p:spPr>
            <a:xfrm>
              <a:off x="4372277" y="2453523"/>
              <a:ext cx="3447446" cy="523220"/>
            </a:xfrm>
            <a:prstGeom prst="rect">
              <a:avLst/>
            </a:prstGeom>
            <a:noFill/>
          </p:spPr>
          <p:txBody>
            <a:bodyPr wrap="square">
              <a:spAutoFit/>
            </a:bodyPr>
            <a:lstStyle/>
            <a:p>
              <a:r>
                <a:rPr lang="vi-VN" dirty="0">
                  <a:latin typeface="+mj-lt"/>
                </a:rPr>
                <a:t>Sau khi </a:t>
              </a:r>
              <a:r>
                <a:rPr lang="vi-VN" b="1" dirty="0">
                  <a:latin typeface="+mj-lt"/>
                </a:rPr>
                <a:t>sift-up</a:t>
              </a:r>
              <a:r>
                <a:rPr lang="vi-VN" dirty="0">
                  <a:latin typeface="+mj-lt"/>
                </a:rPr>
                <a:t>, BN004 (Level 8) sẽ hoán đổi vị trí với BN002 (Level 7):</a:t>
              </a:r>
            </a:p>
          </p:txBody>
        </p:sp>
        <p:sp>
          <p:nvSpPr>
            <p:cNvPr id="21" name="TextBox 20">
              <a:extLst>
                <a:ext uri="{FF2B5EF4-FFF2-40B4-BE49-F238E27FC236}">
                  <a16:creationId xmlns:a16="http://schemas.microsoft.com/office/drawing/2014/main" id="{5D843343-010C-79FF-DE1D-B94EA801B431}"/>
                </a:ext>
              </a:extLst>
            </p:cNvPr>
            <p:cNvSpPr txBox="1"/>
            <p:nvPr/>
          </p:nvSpPr>
          <p:spPr>
            <a:xfrm>
              <a:off x="-4762" y="2453523"/>
              <a:ext cx="3869696" cy="523220"/>
            </a:xfrm>
            <a:prstGeom prst="rect">
              <a:avLst/>
            </a:prstGeom>
            <a:noFill/>
          </p:spPr>
          <p:txBody>
            <a:bodyPr wrap="square">
              <a:spAutoFit/>
            </a:bodyPr>
            <a:lstStyle/>
            <a:p>
              <a:r>
                <a:rPr lang="vi-VN" dirty="0">
                  <a:latin typeface="+mj-lt"/>
                </a:rPr>
                <a:t>Ví dụ: Chèn bệnh nhân BN004 (Level 8) vào Heap hiện có.</a:t>
              </a:r>
            </a:p>
          </p:txBody>
        </p:sp>
        <p:pic>
          <p:nvPicPr>
            <p:cNvPr id="23" name="Picture 22">
              <a:extLst>
                <a:ext uri="{FF2B5EF4-FFF2-40B4-BE49-F238E27FC236}">
                  <a16:creationId xmlns:a16="http://schemas.microsoft.com/office/drawing/2014/main" id="{C566A132-91B6-BC0C-C9F2-C7173C109BF3}"/>
                </a:ext>
              </a:extLst>
            </p:cNvPr>
            <p:cNvPicPr>
              <a:picLocks noChangeAspect="1"/>
            </p:cNvPicPr>
            <p:nvPr/>
          </p:nvPicPr>
          <p:blipFill>
            <a:blip r:embed="rId6"/>
            <a:stretch>
              <a:fillRect/>
            </a:stretch>
          </p:blipFill>
          <p:spPr>
            <a:xfrm>
              <a:off x="10600309" y="2905780"/>
              <a:ext cx="1591691" cy="523220"/>
            </a:xfrm>
            <a:prstGeom prst="rect">
              <a:avLst/>
            </a:prstGeom>
          </p:spPr>
        </p:pic>
      </p:grpSp>
      <p:pic>
        <p:nvPicPr>
          <p:cNvPr id="31" name="Picture 30">
            <a:extLst>
              <a:ext uri="{FF2B5EF4-FFF2-40B4-BE49-F238E27FC236}">
                <a16:creationId xmlns:a16="http://schemas.microsoft.com/office/drawing/2014/main" id="{8DCC664E-B6F4-C9C3-8054-BB9963EEF550}"/>
              </a:ext>
            </a:extLst>
          </p:cNvPr>
          <p:cNvPicPr>
            <a:picLocks noChangeAspect="1"/>
          </p:cNvPicPr>
          <p:nvPr/>
        </p:nvPicPr>
        <p:blipFill>
          <a:blip r:embed="rId7"/>
          <a:stretch>
            <a:fillRect/>
          </a:stretch>
        </p:blipFill>
        <p:spPr>
          <a:xfrm>
            <a:off x="2623086" y="2347519"/>
            <a:ext cx="6458851" cy="4495598"/>
          </a:xfrm>
          <a:prstGeom prst="rect">
            <a:avLst/>
          </a:prstGeom>
        </p:spPr>
      </p:pic>
    </p:spTree>
    <p:extLst>
      <p:ext uri="{BB962C8B-B14F-4D97-AF65-F5344CB8AC3E}">
        <p14:creationId xmlns:p14="http://schemas.microsoft.com/office/powerpoint/2010/main" val="3154295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40469BC7-365E-0A96-136B-77CAEDD8F5F4}"/>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BB14EFEC-7BE1-3BB1-C265-EC47FE6C437F}"/>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2" name="Title 1">
            <a:extLst>
              <a:ext uri="{FF2B5EF4-FFF2-40B4-BE49-F238E27FC236}">
                <a16:creationId xmlns:a16="http://schemas.microsoft.com/office/drawing/2014/main" id="{7564E077-23D6-D751-A4AC-9C94DD977832}"/>
              </a:ext>
            </a:extLst>
          </p:cNvPr>
          <p:cNvSpPr>
            <a:spLocks noGrp="1"/>
          </p:cNvSpPr>
          <p:nvPr>
            <p:ph type="title"/>
          </p:nvPr>
        </p:nvSpPr>
        <p:spPr>
          <a:xfrm>
            <a:off x="362481" y="1419629"/>
            <a:ext cx="11269080" cy="619483"/>
          </a:xfrm>
        </p:spPr>
        <p:txBody>
          <a:bodyPr>
            <a:normAutofit/>
          </a:bodyPr>
          <a:lstStyle/>
          <a:p>
            <a:r>
              <a:rPr lang="vi-VN" sz="2800" b="1" dirty="0">
                <a:latin typeface="+mj-lt"/>
              </a:rPr>
              <a:t>Thiết kế hệ thống &amp; mô phỏng hệ thống xếp lịch bệnh nhân cấp cứu</a:t>
            </a:r>
            <a:endParaRPr lang="en-US" sz="2800" b="1" dirty="0">
              <a:latin typeface="+mj-lt"/>
              <a:cs typeface="Times New Roman" panose="02020603050405020304" pitchFamily="18" charset="0"/>
            </a:endParaRPr>
          </a:p>
        </p:txBody>
      </p:sp>
      <p:sp>
        <p:nvSpPr>
          <p:cNvPr id="4" name="Date Placeholder 6">
            <a:extLst>
              <a:ext uri="{FF2B5EF4-FFF2-40B4-BE49-F238E27FC236}">
                <a16:creationId xmlns:a16="http://schemas.microsoft.com/office/drawing/2014/main" id="{A7358284-9069-F9AE-48D5-62BD5B1453CB}"/>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FFA4FC67-860C-C083-FA0C-E1D5753BF033}"/>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13</a:t>
            </a:fld>
            <a:endParaRPr lang="en-US"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29E5505-097F-0A60-C6B0-E8CF33B9F363}"/>
              </a:ext>
            </a:extLst>
          </p:cNvPr>
          <p:cNvSpPr txBox="1"/>
          <p:nvPr/>
        </p:nvSpPr>
        <p:spPr>
          <a:xfrm>
            <a:off x="457200" y="2039112"/>
            <a:ext cx="6157912" cy="369332"/>
          </a:xfrm>
          <a:prstGeom prst="rect">
            <a:avLst/>
          </a:prstGeom>
          <a:noFill/>
        </p:spPr>
        <p:txBody>
          <a:bodyPr wrap="square">
            <a:spAutoFit/>
          </a:bodyPr>
          <a:lstStyle/>
          <a:p>
            <a:r>
              <a:rPr lang="en-US" sz="1800" b="1" dirty="0">
                <a:latin typeface="+mj-lt"/>
                <a:cs typeface="Aldhabi" panose="020F0502020204030204" pitchFamily="2" charset="-78"/>
              </a:rPr>
              <a:t>4</a:t>
            </a:r>
            <a:r>
              <a:rPr lang="vi-VN" sz="1800" b="1" dirty="0">
                <a:latin typeface="+mj-lt"/>
                <a:cs typeface="Aldhabi" panose="020F0502020204030204" pitchFamily="2" charset="-78"/>
              </a:rPr>
              <a:t>. Cấu trúc dữ liệu Heap (dạng cây)</a:t>
            </a:r>
          </a:p>
        </p:txBody>
      </p:sp>
      <p:pic>
        <p:nvPicPr>
          <p:cNvPr id="10" name="Picture 9">
            <a:extLst>
              <a:ext uri="{FF2B5EF4-FFF2-40B4-BE49-F238E27FC236}">
                <a16:creationId xmlns:a16="http://schemas.microsoft.com/office/drawing/2014/main" id="{866D7D82-6512-88E6-F21F-3C3DC3A804A3}"/>
              </a:ext>
            </a:extLst>
          </p:cNvPr>
          <p:cNvPicPr>
            <a:picLocks noChangeAspect="1"/>
          </p:cNvPicPr>
          <p:nvPr/>
        </p:nvPicPr>
        <p:blipFill>
          <a:blip r:embed="rId4"/>
          <a:stretch>
            <a:fillRect/>
          </a:stretch>
        </p:blipFill>
        <p:spPr>
          <a:xfrm>
            <a:off x="875716" y="2527118"/>
            <a:ext cx="4925009" cy="2911253"/>
          </a:xfrm>
          <a:prstGeom prst="rect">
            <a:avLst/>
          </a:prstGeom>
        </p:spPr>
      </p:pic>
    </p:spTree>
    <p:extLst>
      <p:ext uri="{BB962C8B-B14F-4D97-AF65-F5344CB8AC3E}">
        <p14:creationId xmlns:p14="http://schemas.microsoft.com/office/powerpoint/2010/main" val="1981153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0346E314-C038-D99E-0967-2797833C4DA5}"/>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0B36C2A5-4D84-F411-1A44-1F84FF6503B3}"/>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2" name="Title 1">
            <a:extLst>
              <a:ext uri="{FF2B5EF4-FFF2-40B4-BE49-F238E27FC236}">
                <a16:creationId xmlns:a16="http://schemas.microsoft.com/office/drawing/2014/main" id="{6FE12E12-ED8D-42A8-FF2C-6A72EFB28D22}"/>
              </a:ext>
            </a:extLst>
          </p:cNvPr>
          <p:cNvSpPr>
            <a:spLocks noGrp="1"/>
          </p:cNvSpPr>
          <p:nvPr>
            <p:ph type="title"/>
          </p:nvPr>
        </p:nvSpPr>
        <p:spPr>
          <a:xfrm>
            <a:off x="362481" y="1419629"/>
            <a:ext cx="11269080" cy="619483"/>
          </a:xfrm>
        </p:spPr>
        <p:txBody>
          <a:bodyPr>
            <a:normAutofit/>
          </a:bodyPr>
          <a:lstStyle/>
          <a:p>
            <a:r>
              <a:rPr lang="vi-VN" sz="2800" b="1" dirty="0">
                <a:latin typeface="+mj-lt"/>
              </a:rPr>
              <a:t>Thiết kế hệ thống &amp; mô phỏng hệ thống xếp lịch bệnh nhân cấp cứu</a:t>
            </a:r>
            <a:endParaRPr lang="en-US" sz="2800" b="1" dirty="0">
              <a:latin typeface="+mj-lt"/>
              <a:cs typeface="Times New Roman" panose="02020603050405020304" pitchFamily="18" charset="0"/>
            </a:endParaRPr>
          </a:p>
        </p:txBody>
      </p:sp>
      <p:sp>
        <p:nvSpPr>
          <p:cNvPr id="4" name="Date Placeholder 6">
            <a:extLst>
              <a:ext uri="{FF2B5EF4-FFF2-40B4-BE49-F238E27FC236}">
                <a16:creationId xmlns:a16="http://schemas.microsoft.com/office/drawing/2014/main" id="{59EC9C71-8BE7-E720-284D-F30F51355C1B}"/>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BE8C86CF-69CD-ED4B-7C6A-9A1E495DC944}"/>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14</a:t>
            </a:fld>
            <a:endParaRPr lang="en-US"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2A1CF7D-7C8D-C089-5F5C-8B903061AFD3}"/>
              </a:ext>
            </a:extLst>
          </p:cNvPr>
          <p:cNvSpPr txBox="1"/>
          <p:nvPr/>
        </p:nvSpPr>
        <p:spPr>
          <a:xfrm>
            <a:off x="457200" y="2039112"/>
            <a:ext cx="6157912" cy="369332"/>
          </a:xfrm>
          <a:prstGeom prst="rect">
            <a:avLst/>
          </a:prstGeom>
          <a:noFill/>
        </p:spPr>
        <p:txBody>
          <a:bodyPr wrap="square">
            <a:spAutoFit/>
          </a:bodyPr>
          <a:lstStyle/>
          <a:p>
            <a:r>
              <a:rPr lang="vi-VN" sz="1800" b="1" dirty="0">
                <a:latin typeface="+mj-lt"/>
                <a:cs typeface="Aldhabi" panose="020F0502020204030204" pitchFamily="2" charset="-78"/>
              </a:rPr>
              <a:t>6. Mô phỏng</a:t>
            </a:r>
          </a:p>
        </p:txBody>
      </p:sp>
      <p:pic>
        <p:nvPicPr>
          <p:cNvPr id="6" name="Picture 5">
            <a:extLst>
              <a:ext uri="{FF2B5EF4-FFF2-40B4-BE49-F238E27FC236}">
                <a16:creationId xmlns:a16="http://schemas.microsoft.com/office/drawing/2014/main" id="{68A4D537-EE32-3196-A254-58158B33B4ED}"/>
              </a:ext>
            </a:extLst>
          </p:cNvPr>
          <p:cNvPicPr>
            <a:picLocks noChangeAspect="1"/>
          </p:cNvPicPr>
          <p:nvPr/>
        </p:nvPicPr>
        <p:blipFill>
          <a:blip r:embed="rId4"/>
          <a:stretch>
            <a:fillRect/>
          </a:stretch>
        </p:blipFill>
        <p:spPr>
          <a:xfrm>
            <a:off x="457200" y="2506647"/>
            <a:ext cx="10547016" cy="3849703"/>
          </a:xfrm>
          <a:prstGeom prst="rect">
            <a:avLst/>
          </a:prstGeom>
        </p:spPr>
      </p:pic>
    </p:spTree>
    <p:extLst>
      <p:ext uri="{BB962C8B-B14F-4D97-AF65-F5344CB8AC3E}">
        <p14:creationId xmlns:p14="http://schemas.microsoft.com/office/powerpoint/2010/main" val="5614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BF5C3FB9-7218-9A8B-C2C8-F4624FC3CB68}"/>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2F05C0C1-5300-2208-8F84-E570393FD3D5}"/>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2" name="Title 1">
            <a:extLst>
              <a:ext uri="{FF2B5EF4-FFF2-40B4-BE49-F238E27FC236}">
                <a16:creationId xmlns:a16="http://schemas.microsoft.com/office/drawing/2014/main" id="{385E8983-1BD9-AFC2-76C2-878AEB86255E}"/>
              </a:ext>
            </a:extLst>
          </p:cNvPr>
          <p:cNvSpPr>
            <a:spLocks noGrp="1"/>
          </p:cNvSpPr>
          <p:nvPr>
            <p:ph type="title"/>
          </p:nvPr>
        </p:nvSpPr>
        <p:spPr>
          <a:xfrm>
            <a:off x="362481" y="1419629"/>
            <a:ext cx="11269080" cy="619483"/>
          </a:xfrm>
        </p:spPr>
        <p:txBody>
          <a:bodyPr>
            <a:normAutofit/>
          </a:bodyPr>
          <a:lstStyle/>
          <a:p>
            <a:r>
              <a:rPr lang="vi-VN" sz="2800" b="1" dirty="0">
                <a:latin typeface="+mj-lt"/>
              </a:rPr>
              <a:t>Kết luận</a:t>
            </a:r>
            <a:endParaRPr lang="en-US" sz="2800" b="1" dirty="0">
              <a:latin typeface="+mj-lt"/>
              <a:cs typeface="Times New Roman" panose="02020603050405020304" pitchFamily="18" charset="0"/>
            </a:endParaRPr>
          </a:p>
        </p:txBody>
      </p:sp>
      <p:sp>
        <p:nvSpPr>
          <p:cNvPr id="4" name="Date Placeholder 6">
            <a:extLst>
              <a:ext uri="{FF2B5EF4-FFF2-40B4-BE49-F238E27FC236}">
                <a16:creationId xmlns:a16="http://schemas.microsoft.com/office/drawing/2014/main" id="{A0A0A6AD-FA8D-2933-706B-A623D9659B47}"/>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8C055BB9-4CD8-64F0-B6C0-773DF12C4699}"/>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15</a:t>
            </a:fld>
            <a:endParaRPr lang="en-US"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3B23AF3-364A-2156-55AD-06C745F6D3A0}"/>
              </a:ext>
            </a:extLst>
          </p:cNvPr>
          <p:cNvSpPr txBox="1"/>
          <p:nvPr/>
        </p:nvSpPr>
        <p:spPr>
          <a:xfrm>
            <a:off x="457199" y="2039112"/>
            <a:ext cx="11269079" cy="3785652"/>
          </a:xfrm>
          <a:prstGeom prst="rect">
            <a:avLst/>
          </a:prstGeom>
          <a:noFill/>
        </p:spPr>
        <p:txBody>
          <a:bodyPr wrap="square">
            <a:spAutoFit/>
          </a:bodyPr>
          <a:lstStyle/>
          <a:p>
            <a:pPr algn="just"/>
            <a:r>
              <a:rPr lang="vi-VN" sz="2000" b="1" dirty="0">
                <a:latin typeface="+mj-lt"/>
              </a:rPr>
              <a:t>Max Heap </a:t>
            </a:r>
            <a:r>
              <a:rPr lang="vi-VN" sz="2000" dirty="0">
                <a:latin typeface="+mj-lt"/>
              </a:rPr>
              <a:t>là một giải pháp dữ liệu mạnh mẽ, vừa đảm bảo tốc độ xử lý, vừa duy trì tính công bằng và minh bạch trong việc xếp lịch bệnh nhân cấp cứu.</a:t>
            </a:r>
          </a:p>
          <a:p>
            <a:pPr marL="342900" indent="-342900" algn="just">
              <a:buFont typeface="+mj-lt"/>
              <a:buAutoNum type="arabicPeriod"/>
            </a:pPr>
            <a:r>
              <a:rPr lang="vi-VN" sz="2000" b="1" dirty="0">
                <a:latin typeface="+mj-lt"/>
              </a:rPr>
              <a:t>Tính ưu tiên rõ ràng</a:t>
            </a:r>
            <a:r>
              <a:rPr lang="vi-VN" sz="2000" dirty="0">
                <a:latin typeface="+mj-lt"/>
              </a:rPr>
              <a:t>: Bệnh nhân có mức độ nguy kịch cao nhất luôn được đưa lên gốc của Heap, đảm bảo xử lý kịp thời các trường hợp khẩn cấp.</a:t>
            </a:r>
          </a:p>
          <a:p>
            <a:pPr marL="342900" indent="-342900" algn="just">
              <a:buFont typeface="+mj-lt"/>
              <a:buAutoNum type="arabicPeriod"/>
            </a:pPr>
            <a:r>
              <a:rPr lang="vi-VN" sz="2000" b="1" dirty="0">
                <a:latin typeface="+mj-lt"/>
              </a:rPr>
              <a:t>Hiệu năng ổn định</a:t>
            </a:r>
            <a:r>
              <a:rPr lang="vi-VN" sz="2000" dirty="0">
                <a:latin typeface="+mj-lt"/>
              </a:rPr>
              <a:t>: Các thao tác thêm bệnh nhân, xử lý bệnh nhân khẩn cấp, và duy trì cấu trúc Heap đều có độ phức tạp 𝑂(log⁡𝑛), phù hợp với hệ thống có số lượng bệnh nhân lớn và liên tục thay đổi.</a:t>
            </a:r>
          </a:p>
          <a:p>
            <a:pPr marL="342900" indent="-342900" algn="just">
              <a:buFont typeface="+mj-lt"/>
              <a:buAutoNum type="arabicPeriod"/>
            </a:pPr>
            <a:r>
              <a:rPr lang="vi-VN" sz="2000" b="1" dirty="0">
                <a:latin typeface="+mj-lt"/>
              </a:rPr>
              <a:t>Khả năng mở rộng</a:t>
            </a:r>
            <a:r>
              <a:rPr lang="vi-VN" sz="2000" dirty="0">
                <a:latin typeface="+mj-lt"/>
              </a:rPr>
              <a:t>: Hệ thống có thể dễ dàng tích hợp thêm các yếu tố khác như thời gian chờ, rủi ro lâm sàng, hoặc các quy tắc ưu tiên đặc biệt để phản ánh thực tế bệnh viện.</a:t>
            </a:r>
          </a:p>
          <a:p>
            <a:pPr marL="342900" indent="-342900" algn="just">
              <a:buFont typeface="+mj-lt"/>
              <a:buAutoNum type="arabicPeriod"/>
            </a:pPr>
            <a:r>
              <a:rPr lang="vi-VN" sz="2000" b="1" dirty="0">
                <a:latin typeface="+mj-lt"/>
              </a:rPr>
              <a:t>Tính trực quan</a:t>
            </a:r>
            <a:r>
              <a:rPr lang="vi-VN" sz="2000" dirty="0">
                <a:latin typeface="+mj-lt"/>
              </a:rPr>
              <a:t>: Việc hiển thị Heap dưới dạng cây giúp đội ngũ y tế dễ dàng quan sát và kiểm soát tình trạng hàng đợi bệnh nhân.</a:t>
            </a:r>
          </a:p>
          <a:p>
            <a:pPr marL="342900" indent="-342900" algn="just">
              <a:buFont typeface="+mj-lt"/>
              <a:buAutoNum type="arabicPeriod"/>
            </a:pPr>
            <a:r>
              <a:rPr lang="vi-VN" sz="2000" b="1" dirty="0">
                <a:latin typeface="+mj-lt"/>
              </a:rPr>
              <a:t>Ứng dụng thực tiễn</a:t>
            </a:r>
            <a:r>
              <a:rPr lang="vi-VN" sz="2000" dirty="0">
                <a:latin typeface="+mj-lt"/>
              </a:rPr>
              <a:t>: Mô hình này có thể triển khai trong các hệ thống quản lý cấp cứu, phòng khám, hoặc tích hợp vào phần mềm bệnh viện để hỗ trợ ra quyết định nhanh chóng và minh bạch.</a:t>
            </a:r>
          </a:p>
        </p:txBody>
      </p:sp>
    </p:spTree>
    <p:extLst>
      <p:ext uri="{BB962C8B-B14F-4D97-AF65-F5344CB8AC3E}">
        <p14:creationId xmlns:p14="http://schemas.microsoft.com/office/powerpoint/2010/main" val="3273510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38C7256F-5022-1769-EFE7-5CA8B555B941}"/>
            </a:ext>
          </a:extLst>
        </p:cNvPr>
        <p:cNvGrpSpPr/>
        <p:nvPr/>
      </p:nvGrpSpPr>
      <p:grpSpPr>
        <a:xfrm>
          <a:off x="0" y="0"/>
          <a:ext cx="0" cy="0"/>
          <a:chOff x="0" y="0"/>
          <a:chExt cx="0" cy="0"/>
        </a:xfrm>
      </p:grpSpPr>
      <p:pic>
        <p:nvPicPr>
          <p:cNvPr id="92" name="Google Shape;92;p2">
            <a:extLst>
              <a:ext uri="{FF2B5EF4-FFF2-40B4-BE49-F238E27FC236}">
                <a16:creationId xmlns:a16="http://schemas.microsoft.com/office/drawing/2014/main" id="{C939B695-E35E-79E2-0DAD-9E33491E9E3B}"/>
              </a:ext>
            </a:extLst>
          </p:cNvPr>
          <p:cNvPicPr preferRelativeResize="0"/>
          <p:nvPr/>
        </p:nvPicPr>
        <p:blipFill rotWithShape="1">
          <a:blip r:embed="rId3">
            <a:alphaModFix/>
          </a:blip>
          <a:srcRect/>
          <a:stretch/>
        </p:blipFill>
        <p:spPr>
          <a:xfrm>
            <a:off x="0" y="0"/>
            <a:ext cx="12313325" cy="1255521"/>
          </a:xfrm>
          <a:prstGeom prst="rect">
            <a:avLst/>
          </a:prstGeom>
          <a:noFill/>
          <a:ln>
            <a:noFill/>
          </a:ln>
        </p:spPr>
      </p:pic>
      <p:sp>
        <p:nvSpPr>
          <p:cNvPr id="2" name="Title 1">
            <a:extLst>
              <a:ext uri="{FF2B5EF4-FFF2-40B4-BE49-F238E27FC236}">
                <a16:creationId xmlns:a16="http://schemas.microsoft.com/office/drawing/2014/main" id="{A48292D4-DA27-ECA3-7D10-C6BB2EACA54D}"/>
              </a:ext>
            </a:extLst>
          </p:cNvPr>
          <p:cNvSpPr>
            <a:spLocks noGrp="1"/>
          </p:cNvSpPr>
          <p:nvPr>
            <p:ph type="title"/>
          </p:nvPr>
        </p:nvSpPr>
        <p:spPr>
          <a:xfrm>
            <a:off x="2159193" y="3027769"/>
            <a:ext cx="7994938" cy="802461"/>
          </a:xfrm>
        </p:spPr>
        <p:txBody>
          <a:bodyPr>
            <a:normAutofit/>
          </a:bodyPr>
          <a:lstStyle/>
          <a:p>
            <a:r>
              <a:rPr lang="en-US" sz="3800" b="1" dirty="0" err="1">
                <a:latin typeface="Times New Roman" panose="02020603050405020304" pitchFamily="18" charset="0"/>
                <a:cs typeface="Times New Roman" panose="02020603050405020304" pitchFamily="18" charset="0"/>
              </a:rPr>
              <a:t>Cảm</a:t>
            </a:r>
            <a:r>
              <a:rPr lang="en-US" sz="3800" b="1" dirty="0">
                <a:latin typeface="Times New Roman" panose="02020603050405020304" pitchFamily="18" charset="0"/>
                <a:cs typeface="Times New Roman" panose="02020603050405020304" pitchFamily="18" charset="0"/>
              </a:rPr>
              <a:t> ơn </a:t>
            </a:r>
            <a:r>
              <a:rPr lang="en-US" sz="3800" b="1" dirty="0" err="1">
                <a:latin typeface="Times New Roman" panose="02020603050405020304" pitchFamily="18" charset="0"/>
                <a:cs typeface="Times New Roman" panose="02020603050405020304" pitchFamily="18" charset="0"/>
              </a:rPr>
              <a:t>Cô</a:t>
            </a:r>
            <a:r>
              <a:rPr lang="en-US" sz="3800" b="1" dirty="0">
                <a:latin typeface="Times New Roman" panose="02020603050405020304" pitchFamily="18" charset="0"/>
                <a:cs typeface="Times New Roman" panose="02020603050405020304" pitchFamily="18" charset="0"/>
              </a:rPr>
              <a:t> và Anh/ Chị đã </a:t>
            </a:r>
            <a:r>
              <a:rPr lang="en-US" sz="3800" b="1" dirty="0" err="1">
                <a:latin typeface="Times New Roman" panose="02020603050405020304" pitchFamily="18" charset="0"/>
                <a:cs typeface="Times New Roman" panose="02020603050405020304" pitchFamily="18" charset="0"/>
              </a:rPr>
              <a:t>lắng</a:t>
            </a:r>
            <a:r>
              <a:rPr lang="en-US" sz="3800" b="1" dirty="0">
                <a:latin typeface="Times New Roman" panose="02020603050405020304" pitchFamily="18" charset="0"/>
                <a:cs typeface="Times New Roman" panose="02020603050405020304" pitchFamily="18" charset="0"/>
              </a:rPr>
              <a:t> nghe</a:t>
            </a:r>
          </a:p>
        </p:txBody>
      </p:sp>
      <p:sp>
        <p:nvSpPr>
          <p:cNvPr id="4" name="Date Placeholder 6">
            <a:extLst>
              <a:ext uri="{FF2B5EF4-FFF2-40B4-BE49-F238E27FC236}">
                <a16:creationId xmlns:a16="http://schemas.microsoft.com/office/drawing/2014/main" id="{CFCA379B-8228-2241-9E31-9D0213946896}"/>
              </a:ext>
            </a:extLst>
          </p:cNvPr>
          <p:cNvSpPr>
            <a:spLocks noGrp="1"/>
          </p:cNvSpPr>
          <p:nvPr>
            <p:ph type="dt" sz="half" idx="10"/>
          </p:nvPr>
        </p:nvSpPr>
        <p:spPr>
          <a:xfrm>
            <a:off x="457200" y="6356350"/>
            <a:ext cx="2133600" cy="365125"/>
          </a:xfrm>
        </p:spPr>
        <p:txBody>
          <a:bodyPr/>
          <a:lstStyle/>
          <a:p>
            <a:pPr>
              <a:defRPr/>
            </a:pPr>
            <a:fld id="{1B0B4DA1-52F0-413D-B08E-727C92CF8398}" type="datetime1">
              <a:rPr lang="vi-VN" smtClean="0">
                <a:solidFill>
                  <a:schemeClr val="tx1"/>
                </a:solidFill>
                <a:latin typeface="+mj-lt"/>
              </a:rPr>
              <a:t>16/12/2025</a:t>
            </a:fld>
            <a:endParaRPr lang="en-US" dirty="0">
              <a:solidFill>
                <a:schemeClr val="tx1"/>
              </a:solidFill>
              <a:latin typeface="+mj-lt"/>
            </a:endParaRPr>
          </a:p>
        </p:txBody>
      </p:sp>
      <p:sp>
        <p:nvSpPr>
          <p:cNvPr id="5" name="Slide Number Placeholder 8">
            <a:extLst>
              <a:ext uri="{FF2B5EF4-FFF2-40B4-BE49-F238E27FC236}">
                <a16:creationId xmlns:a16="http://schemas.microsoft.com/office/drawing/2014/main" id="{523BEE69-4201-F482-09CC-F2286A4E3826}"/>
              </a:ext>
            </a:extLst>
          </p:cNvPr>
          <p:cNvSpPr>
            <a:spLocks noGrp="1"/>
          </p:cNvSpPr>
          <p:nvPr>
            <p:ph type="sldNum" sz="quarter" idx="12"/>
          </p:nvPr>
        </p:nvSpPr>
        <p:spPr>
          <a:xfrm>
            <a:off x="9768348" y="6356350"/>
            <a:ext cx="2133600" cy="365125"/>
          </a:xfrm>
        </p:spPr>
        <p:txBody>
          <a:bodyPr/>
          <a:lstStyle/>
          <a:p>
            <a:pPr>
              <a:defRPr/>
            </a:pPr>
            <a:fld id="{C41CC060-A849-4D02-8651-AC13C520DECA}" type="slidenum">
              <a:rPr lang="en-US" smtClean="0">
                <a:solidFill>
                  <a:schemeClr val="tx1"/>
                </a:solidFill>
                <a:latin typeface="Times New Roman" panose="02020603050405020304" pitchFamily="18" charset="0"/>
                <a:cs typeface="Times New Roman" panose="02020603050405020304" pitchFamily="18" charset="0"/>
              </a:rPr>
              <a:pPr>
                <a:defRPr/>
              </a:pPr>
              <a:t>16</a:t>
            </a:fld>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344402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1250</TotalTime>
  <Words>1250</Words>
  <Application>Microsoft Office PowerPoint</Application>
  <PresentationFormat>Widescreen</PresentationFormat>
  <Paragraphs>117</Paragraphs>
  <Slides>16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Cambria Math</vt:lpstr>
      <vt:lpstr>Inter</vt:lpstr>
      <vt:lpstr>Times New Roman</vt:lpstr>
      <vt:lpstr>Wingdings</vt:lpstr>
      <vt:lpstr>Office Theme</vt:lpstr>
      <vt:lpstr>Max Heap</vt:lpstr>
      <vt:lpstr>MỤC TIÊU</vt:lpstr>
      <vt:lpstr>CẤU TRÚC</vt:lpstr>
      <vt:lpstr>PowerPoint Presentation</vt:lpstr>
      <vt:lpstr>PowerPoint Presentation</vt:lpstr>
      <vt:lpstr>PowerPoint Presentation</vt:lpstr>
      <vt:lpstr>PowerPoint Presentation</vt:lpstr>
      <vt:lpstr>PowerPoint Presentation</vt:lpstr>
      <vt:lpstr>Thiết kế hệ thống &amp; mô phỏng hệ thống xếp lịch bệnh nhân cấp cứu</vt:lpstr>
      <vt:lpstr>Thiết kế hệ thống &amp; mô phỏng hệ thống xếp lịch bệnh nhân cấp cứu</vt:lpstr>
      <vt:lpstr>Thiết kế hệ thống &amp; mô phỏng hệ thống xếp lịch bệnh nhân cấp cứu</vt:lpstr>
      <vt:lpstr>PowerPoint Presentation</vt:lpstr>
      <vt:lpstr>Thiết kế hệ thống &amp; mô phỏng hệ thống xếp lịch bệnh nhân cấp cứu</vt:lpstr>
      <vt:lpstr>Thiết kế hệ thống &amp; mô phỏng hệ thống xếp lịch bệnh nhân cấp cứu</vt:lpstr>
      <vt:lpstr>Kết luận</vt:lpstr>
      <vt:lpstr>Cảm ơn Cô và Anh/ Chị đã lắng nghe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ipsum</dc:title>
  <dc:creator>Vũ Ngàn Thương FGAM-HCMUTE</dc:creator>
  <cp:lastModifiedBy>NhatPot</cp:lastModifiedBy>
  <cp:revision>74</cp:revision>
  <dcterms:created xsi:type="dcterms:W3CDTF">2022-08-31T03:57:56Z</dcterms:created>
  <dcterms:modified xsi:type="dcterms:W3CDTF">2025-12-16T12:39:44Z</dcterms:modified>
</cp:coreProperties>
</file>